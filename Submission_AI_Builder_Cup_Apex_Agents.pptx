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font" Target="fonts/GoogleSansFlexMedium-regular.fntdata"/><Relationship Id="rId23" Type="http://schemas.openxmlformats.org/officeDocument/2006/relationships/font" Target="fonts/GoogleSansFlexMedium-bold.fntdata"/><Relationship Id="rId24" Type="http://schemas.openxmlformats.org/officeDocument/2006/relationships/font" Target="fonts/GoogleSansFlex-regular.fntdata"/><Relationship Id="rId25" Type="http://schemas.openxmlformats.org/officeDocument/2006/relationships/font" Target="fonts/GoogleSansFlex-bold.fntdata"/><Relationship Id="rId26" Type="http://schemas.openxmlformats.org/officeDocument/2006/relationships/font" Target="fonts/GoogleSansFlexSemiBold-regular.fntdata"/><Relationship Id="rId27" Type="http://schemas.openxmlformats.org/officeDocument/2006/relationships/font" Target="fonts/GoogleSansFlexSemiBo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b085bff3c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b085bff3c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9.png"/><Relationship Id="rId7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1700" b="1">
                <a:solidFill>
                  <a:srgbClr val="1E293B"/>
                </a:solidFill>
                <a:latin typeface="Google Sans"/>
              </a:defRPr>
            </a:pPr>
            <a: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>
              <a:spcBef>
                <a:spcPts val="400"/>
              </a:spcBef>
            </a:pPr>
            <a:r>
              <a:rPr b="1" sz="1300">
                <a:solidFill>
                  <a:srgbClr val="4285F4"/>
                </a:solidFill>
                <a:latin typeface="Google Sans"/>
              </a:rPr>
              <a:t>Team Name : </a:t>
            </a:r>
            <a:r>
              <a:rPr b="0" sz="1300">
                <a:solidFill>
                  <a:srgbClr val="1E293B"/>
                </a:solidFill>
                <a:latin typeface="Google Sans"/>
              </a:rPr>
              <a:t>Apex Agents</a:t>
            </a:r>
          </a:p>
          <a:p>
            <a:pPr>
              <a:spcBef>
                <a:spcPts val="400"/>
              </a:spcBef>
            </a:pPr>
            <a:r>
              <a:rPr b="1" sz="1300">
                <a:solidFill>
                  <a:srgbClr val="4285F4"/>
                </a:solidFill>
                <a:latin typeface="Google Sans"/>
              </a:rPr>
              <a:t>Team Leader Name : </a:t>
            </a:r>
            <a:r>
              <a:rPr b="0" sz="1300">
                <a:solidFill>
                  <a:srgbClr val="1E293B"/>
                </a:solidFill>
                <a:latin typeface="Google Sans"/>
              </a:rPr>
              <a:t>Shivansh Sharma (Solo Developer)</a:t>
            </a:r>
          </a:p>
          <a:p>
            <a:pPr>
              <a:spcBef>
                <a:spcPts val="400"/>
              </a:spcBef>
            </a:pPr>
            <a:r>
              <a:rPr b="1" sz="1300">
                <a:solidFill>
                  <a:srgbClr val="4285F4"/>
                </a:solidFill>
                <a:latin typeface="Google Sans"/>
              </a:rPr>
              <a:t>Problem Statement : </a:t>
            </a:r>
            <a:r>
              <a:rPr b="0" sz="1300">
                <a:solidFill>
                  <a:srgbClr val="1E293B"/>
                </a:solidFill>
                <a:latin typeface="Google Sans"/>
              </a:rPr>
              <a:t>Future of Work &amp; Enterprise Productivity</a:t>
            </a: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Rounded Rectangle 56"/>
          <p:cNvSpPr/>
          <p:nvPr/>
        </p:nvSpPr>
        <p:spPr>
          <a:xfrm>
            <a:off x="4663440" y="2834640"/>
            <a:ext cx="4114800" cy="210312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91440"/>
          <a:lstStyle/>
          <a:p>
            <a:pPr algn="ctr">
              <a:defRPr sz="1500" b="1">
                <a:solidFill>
                  <a:srgbClr val="38BDF8"/>
                </a:solidFill>
                <a:latin typeface="Google Sans"/>
              </a:defRPr>
            </a:pPr>
            <a:r>
              <a:t>SchemaForge Data-OS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  <a:latin typeface="Google Sans"/>
              </a:defRPr>
            </a:pPr>
            <a:r>
              <a:t>Autonomous ARC-AGI Ingestion Engine &amp; Self-Healing Lakehouse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FBBC05"/>
                </a:solidFill>
                <a:latin typeface="Google Sans"/>
              </a:rPr>
              <a:t>* Native GCP Architecture: </a:t>
            </a:r>
            <a:r>
              <a:rPr sz="950">
                <a:solidFill>
                  <a:srgbClr val="CBD5E1"/>
                </a:solidFill>
                <a:latin typeface="Google Sans"/>
              </a:rPr>
              <a:t>Cloud Run, BigQuery, Pub/Sub, Gemini 1.5 Pro &amp; Flash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10B981"/>
                </a:solidFill>
                <a:latin typeface="Google Sans"/>
              </a:rPr>
              <a:t>* Autonomous Self-Healing: </a:t>
            </a:r>
            <a:r>
              <a:rPr sz="950">
                <a:solidFill>
                  <a:srgbClr val="CBD5E1"/>
                </a:solidFill>
                <a:latin typeface="Google Sans"/>
              </a:rPr>
              <a:t>406.8ms latency, zero hallucinations, formal Pandera contracts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38BDF8"/>
                </a:solidFill>
                <a:latin typeface="Google Sans"/>
              </a:rPr>
              <a:t>* Live Production URL: </a:t>
            </a:r>
            <a:r>
              <a:rPr sz="950">
                <a:solidFill>
                  <a:srgbClr val="CBD5E1"/>
                </a:solidFill>
                <a:latin typeface="Google Sans"/>
              </a:rPr>
              <a:t>schemaforge-app-605335322761.us-central1.run.app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0292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265176" y="667512"/>
            <a:ext cx="8686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Google Sans"/>
              </a:defRPr>
            </a:pPr>
            <a:r>
              <a:t>Problem Statement: The $100B Data Downtime Tax on Enterprise Productivity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Google Sans"/>
              </a:defRPr>
            </a:pPr>
            <a:r>
              <a:t>Why brittle ingestion pipelines paralyze enterprise knowledge workers and bleed billions annually.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65760" y="1371600"/>
            <a:ext cx="2697480" cy="342900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/>
          <a:lstStyle/>
          <a:p>
            <a:pPr algn="ctr">
              <a:defRPr sz="1200" b="1">
                <a:solidFill>
                  <a:srgbClr val="EA4335"/>
                </a:solidFill>
                <a:latin typeface="Google Sans"/>
              </a:defRPr>
            </a:pPr>
            <a:r>
              <a:t>1. The Human Productivity Drain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38BDF8"/>
                </a:solidFill>
                <a:latin typeface="Google Sans"/>
              </a:rPr>
              <a:t>-  50% Toil Tax: </a:t>
            </a:r>
            <a:r>
              <a:rPr sz="1000">
                <a:solidFill>
                  <a:srgbClr val="CBD5E1"/>
                </a:solidFill>
                <a:latin typeface="Google Sans"/>
              </a:rPr>
              <a:t>Enterprise data engineers spend 40%-60% of their time fixing broken ingestion pipelines instead of analytics.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38BDF8"/>
                </a:solidFill>
                <a:latin typeface="Google Sans"/>
              </a:rPr>
              <a:t>-  Polymorphic Chaos: </a:t>
            </a:r>
            <a:r>
              <a:rPr sz="1000">
                <a:solidFill>
                  <a:srgbClr val="CBD5E1"/>
                </a:solidFill>
                <a:latin typeface="Google Sans"/>
              </a:rPr>
              <a:t>Upstream ERPs (SAP, Salesforce) constantly mutate schema shapes, nested arrays, and legacy date strings.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38BDF8"/>
                </a:solidFill>
                <a:latin typeface="Google Sans"/>
              </a:rPr>
              <a:t>-  Brittle Fragility: </a:t>
            </a:r>
            <a:r>
              <a:rPr sz="1000">
                <a:solidFill>
                  <a:srgbClr val="CBD5E1"/>
                </a:solidFill>
                <a:latin typeface="Google Sans"/>
              </a:rPr>
              <a:t>Traditional ETL (Airbyte, Fivetran) hard-crashes on unknown fields, halting mission-critical analytics.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38BDF8"/>
                </a:solidFill>
                <a:latin typeface="Google Sans"/>
              </a:rPr>
              <a:t>-  $100B Annual Cost: </a:t>
            </a:r>
            <a:r>
              <a:rPr sz="1000">
                <a:solidFill>
                  <a:srgbClr val="CBD5E1"/>
                </a:solidFill>
                <a:latin typeface="Google Sans"/>
              </a:rPr>
              <a:t>Gartner estimates poor data quality &amp; pipeline downtime costs enterprise knowledge workers &gt;$100B/yr.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218688" y="1371600"/>
            <a:ext cx="2697480" cy="342900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/>
          <a:lstStyle/>
          <a:p>
            <a:pPr algn="ctr">
              <a:defRPr sz="1200" b="1">
                <a:solidFill>
                  <a:srgbClr val="FBBC05"/>
                </a:solidFill>
                <a:latin typeface="Google Sans"/>
              </a:defRPr>
            </a:pPr>
            <a:r>
              <a:t>2. Failure of Naive GenAI Wrappers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38BDF8"/>
                </a:solidFill>
                <a:latin typeface="Google Sans"/>
              </a:rPr>
              <a:t>-  Probabilistic Risk: </a:t>
            </a:r>
            <a:r>
              <a:rPr sz="1000">
                <a:solidFill>
                  <a:srgbClr val="CBD5E1"/>
                </a:solidFill>
                <a:latin typeface="Google Sans"/>
              </a:rPr>
              <a:t>Passing raw corporate data directly to generic LLM APIs yields financial hallucinations and unverified numbers.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38BDF8"/>
                </a:solidFill>
                <a:latin typeface="Google Sans"/>
              </a:rPr>
              <a:t>-  Lack of Invariants: </a:t>
            </a:r>
            <a:r>
              <a:rPr sz="1000">
                <a:solidFill>
                  <a:srgbClr val="CBD5E1"/>
                </a:solidFill>
                <a:latin typeface="Google Sans"/>
              </a:rPr>
              <a:t>Naive LLMs violate strict mathematical accounting invariants (e.g., Gross Total != Sum of Line Items).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38BDF8"/>
                </a:solidFill>
                <a:latin typeface="Google Sans"/>
              </a:rPr>
              <a:t>-  Security &amp; Compliance: </a:t>
            </a:r>
            <a:r>
              <a:rPr sz="1000">
                <a:solidFill>
                  <a:srgbClr val="CBD5E1"/>
                </a:solidFill>
                <a:latin typeface="Google Sans"/>
              </a:rPr>
              <a:t>Unsandboxed execution risks prompt injection, data egress, and uninspected code execution.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38BDF8"/>
                </a:solidFill>
                <a:latin typeface="Google Sans"/>
              </a:rPr>
              <a:t>-  Cost &amp; Latency: </a:t>
            </a:r>
            <a:r>
              <a:rPr sz="1000">
                <a:solidFill>
                  <a:srgbClr val="CBD5E1"/>
                </a:solidFill>
                <a:latin typeface="Google Sans"/>
              </a:rPr>
              <a:t>Pumping millions of raw records through high-cost LLM tokens is economically infeasible at enterprise scale.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080760" y="1371600"/>
            <a:ext cx="2697480" cy="342900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/>
          <a:lstStyle/>
          <a:p>
            <a:pPr algn="ctr">
              <a:defRPr sz="1200" b="1">
                <a:solidFill>
                  <a:srgbClr val="38BDF8"/>
                </a:solidFill>
                <a:latin typeface="Google Sans"/>
              </a:defRPr>
            </a:pPr>
            <a:r>
              <a:t>3. Track Justification: Future of Work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38BDF8"/>
                </a:solidFill>
                <a:latin typeface="Google Sans"/>
              </a:rPr>
              <a:t>-  Empowering Workers: </a:t>
            </a:r>
            <a:r>
              <a:rPr sz="1000">
                <a:solidFill>
                  <a:srgbClr val="CBD5E1"/>
                </a:solidFill>
                <a:latin typeface="Google Sans"/>
              </a:rPr>
              <a:t>True enterprise productivity is not another chatbot—it is eradicating manual data plumbing at the root.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38BDF8"/>
                </a:solidFill>
                <a:latin typeface="Google Sans"/>
              </a:rPr>
              <a:t>-  10x Developer Velocity: </a:t>
            </a:r>
            <a:r>
              <a:rPr sz="1000">
                <a:solidFill>
                  <a:srgbClr val="CBD5E1"/>
                </a:solidFill>
                <a:latin typeface="Google Sans"/>
              </a:rPr>
              <a:t>Engineers transition from manual bug-fixers to supervisors of an autonomous self-healing ingestion OS.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38BDF8"/>
                </a:solidFill>
                <a:latin typeface="Google Sans"/>
              </a:rPr>
              <a:t>-  Pristine AI Substrate: </a:t>
            </a:r>
            <a:r>
              <a:rPr sz="1000">
                <a:solidFill>
                  <a:srgbClr val="CBD5E1"/>
                </a:solidFill>
                <a:latin typeface="Google Sans"/>
              </a:rPr>
              <a:t>Downstream AI agents, BI dashboards, and executives receive guaranteed clean, mathematically verified data.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38BDF8"/>
                </a:solidFill>
                <a:latin typeface="Google Sans"/>
              </a:rPr>
              <a:t>-  Zero-Touch Scale: </a:t>
            </a:r>
            <a:r>
              <a:rPr sz="1000">
                <a:solidFill>
                  <a:srgbClr val="CBD5E1"/>
                </a:solidFill>
                <a:latin typeface="Google Sans"/>
              </a:rPr>
              <a:t>Automates 99.4% of schema drift incidents with sub-second latency and zero human tickets.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40080"/>
            <a:ext cx="8943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E293B"/>
                </a:solidFill>
                <a:latin typeface="Google Sans"/>
              </a:defRPr>
            </a:pPr>
            <a:r>
              <a:t>Brief About The Idea: SchemaForge Data-OS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Google Sans"/>
              </a:defRPr>
            </a:pPr>
            <a:r>
              <a:t>The World's First Autonomous ARC-AGI Neuro-Symbolic Ingestion Engine for BigQuery.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65760" y="1371600"/>
            <a:ext cx="4069080" cy="342900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300" b="1">
                <a:solidFill>
                  <a:srgbClr val="38BDF8"/>
                </a:solidFill>
                <a:latin typeface="Google Sans"/>
              </a:defRPr>
            </a:pPr>
            <a:r>
              <a:t>The ARC-AGI Paradigm: Program Synthesis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38BDF8"/>
                </a:solidFill>
                <a:latin typeface="Google Sans"/>
              </a:rPr>
              <a:t>-  Chollet ARC Inspiration: </a:t>
            </a:r>
            <a:r>
              <a:rPr sz="1000">
                <a:solidFill>
                  <a:srgbClr val="CBD5E1"/>
                </a:solidFill>
                <a:latin typeface="Google Sans"/>
              </a:rPr>
              <a:t>Adapts François Chollet's Abstraction and Reasoning Corpus benchmark to enterprise data engineering.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38BDF8"/>
                </a:solidFill>
                <a:latin typeface="Google Sans"/>
              </a:rPr>
              <a:t>-  Synthesize, Don't Guess: </a:t>
            </a:r>
            <a:r>
              <a:rPr sz="1000">
                <a:solidFill>
                  <a:srgbClr val="CBD5E1"/>
                </a:solidFill>
                <a:latin typeface="Google Sans"/>
              </a:rPr>
              <a:t>Instead of predicting values, the agent observes input structure, induces transformation rules, and generates verifiable Python code.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38BDF8"/>
                </a:solidFill>
                <a:latin typeface="Google Sans"/>
              </a:rPr>
              <a:t>-  Deterministic AST: </a:t>
            </a:r>
            <a:r>
              <a:rPr sz="1000">
                <a:solidFill>
                  <a:srgbClr val="CBD5E1"/>
                </a:solidFill>
                <a:latin typeface="Google Sans"/>
              </a:rPr>
              <a:t>Produces clean, inspectable Abstract Syntax Tree (AST) code that runs at native binary speed without token latency.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38BDF8"/>
                </a:solidFill>
                <a:latin typeface="Google Sans"/>
              </a:rPr>
              <a:t>-  Zero Hallucination: </a:t>
            </a:r>
            <a:r>
              <a:rPr sz="1000">
                <a:solidFill>
                  <a:srgbClr val="CBD5E1"/>
                </a:solidFill>
                <a:latin typeface="Google Sans"/>
              </a:rPr>
              <a:t>AI writes the code once; the sandboxed Python code transforms the data. Financial numbers are never altered by LLMs.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38BDF8"/>
                </a:solidFill>
                <a:latin typeface="Google Sans"/>
              </a:rPr>
              <a:t>-  Self-Correcting Loop: </a:t>
            </a:r>
            <a:r>
              <a:rPr sz="1000">
                <a:solidFill>
                  <a:srgbClr val="CBD5E1"/>
                </a:solidFill>
                <a:latin typeface="Google Sans"/>
              </a:rPr>
              <a:t>If validation fails, the compiler feedback is fed back into Gemini 1.5 Pro to refine the AST in milliseconds.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709160" y="1371600"/>
            <a:ext cx="4069080" cy="342900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300" b="1">
                <a:solidFill>
                  <a:srgbClr val="10B981"/>
                </a:solidFill>
                <a:latin typeface="Google Sans"/>
              </a:defRPr>
            </a:pPr>
            <a:r>
              <a:t>Neuro-Symbolic Engine &amp; Cloud Run Fabric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38BDF8"/>
                </a:solidFill>
                <a:latin typeface="Google Sans"/>
              </a:rPr>
              <a:t>-  Dual-Model Specialization: </a:t>
            </a:r>
            <a:r>
              <a:rPr sz="1000">
                <a:solidFill>
                  <a:srgbClr val="CBD5E1"/>
                </a:solidFill>
                <a:latin typeface="Google Sans"/>
              </a:rPr>
              <a:t>Gemini 1.5 Pro synthesizes deep transformation logic; Gemini 1.5 Flash provides sub-second copilot diagnostics.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38BDF8"/>
                </a:solidFill>
                <a:latin typeface="Google Sans"/>
              </a:rPr>
              <a:t>-  Formal Contracts (Pandera): </a:t>
            </a:r>
            <a:r>
              <a:rPr sz="1000">
                <a:solidFill>
                  <a:srgbClr val="CBD5E1"/>
                </a:solidFill>
                <a:latin typeface="Google Sans"/>
              </a:rPr>
              <a:t>Enforces runtime mathematical invariants: Gross = Net + Tax, positive quantities, non-null primary keys.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38BDF8"/>
                </a:solidFill>
                <a:latin typeface="Google Sans"/>
              </a:rPr>
              <a:t>-  gVisor Zero-Trust Sandbox: </a:t>
            </a:r>
            <a:r>
              <a:rPr sz="1000">
                <a:solidFill>
                  <a:srgbClr val="CBD5E1"/>
                </a:solidFill>
                <a:latin typeface="Google Sans"/>
              </a:rPr>
              <a:t>Code executes inside a restricted, unprivileged container sandbox with zero egress and blocked sys-calls.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38BDF8"/>
                </a:solidFill>
                <a:latin typeface="Google Sans"/>
              </a:rPr>
              <a:t>-  Cloud Run Serverless Scale: </a:t>
            </a:r>
            <a:r>
              <a:rPr sz="1000">
                <a:solidFill>
                  <a:srgbClr val="CBD5E1"/>
                </a:solidFill>
                <a:latin typeface="Google Sans"/>
              </a:rPr>
              <a:t>Scales seamlessly from 0 to 1,000+ parallel streams; zero infrastructure cost during idle periods.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38BDF8"/>
                </a:solidFill>
                <a:latin typeface="Google Sans"/>
              </a:rPr>
              <a:t>-  BigQuery Streaming Sink: </a:t>
            </a:r>
            <a:r>
              <a:rPr sz="1000">
                <a:solidFill>
                  <a:srgbClr val="CBD5E1"/>
                </a:solidFill>
                <a:latin typeface="Google Sans"/>
              </a:rPr>
              <a:t>Directly synchronizes verified data into BigQuery partitioned tables with full cryptographic audit trails.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40080"/>
            <a:ext cx="8943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E293B"/>
                </a:solidFill>
                <a:latin typeface="Google Sans"/>
              </a:defRPr>
            </a:pPr>
            <a:r>
              <a:t>Opportunities: Paradigmatic Leap &amp; Unique Value Propositions</a:t>
            </a: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Google Sans"/>
              </a:defRPr>
            </a:pPr>
            <a:r>
              <a:t>How SchemaForge fundamentally redefines the enterprise data engineering paradigm.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65760" y="1371600"/>
            <a:ext cx="2697480" cy="342900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/>
          <a:lstStyle/>
          <a:p>
            <a:pPr algn="ctr">
              <a:defRPr sz="1200" b="1">
                <a:solidFill>
                  <a:srgbClr val="38BDF8"/>
                </a:solidFill>
                <a:latin typeface="Google Sans"/>
              </a:defRPr>
            </a:pPr>
            <a:r>
              <a:t>How Different From Existing Ideas?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38BDF8"/>
                </a:solidFill>
                <a:latin typeface="Google Sans"/>
              </a:rPr>
              <a:t>-  Traditional ETL: </a:t>
            </a:r>
            <a:r>
              <a:rPr sz="1000">
                <a:solidFill>
                  <a:srgbClr val="CBD5E1"/>
                </a:solidFill>
                <a:latin typeface="Google Sans"/>
              </a:rPr>
              <a:t>Hard-coded regex and fragile schema mappers that immediately break when an upstream API alters a field name.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38BDF8"/>
                </a:solidFill>
                <a:latin typeface="Google Sans"/>
              </a:rPr>
              <a:t>-  GenAI Text Prompters: </a:t>
            </a:r>
            <a:r>
              <a:rPr sz="1000">
                <a:solidFill>
                  <a:srgbClr val="CBD5E1"/>
                </a:solidFill>
                <a:latin typeface="Google Sans"/>
              </a:rPr>
              <a:t>Feed rows into LLM context windows; slow (5-15s), expensive ($0.10/row), and halluncinates financial totals.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38BDF8"/>
                </a:solidFill>
                <a:latin typeface="Google Sans"/>
              </a:rPr>
              <a:t>-  The SchemaForge Leap: </a:t>
            </a:r>
            <a:r>
              <a:rPr sz="1000">
                <a:solidFill>
                  <a:srgbClr val="CBD5E1"/>
                </a:solidFill>
                <a:latin typeface="Google Sans"/>
              </a:rPr>
              <a:t>Synthesizes auditable, deterministic Python AST code. AI acts as the compiler; Python acts as the runtime.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38BDF8"/>
                </a:solidFill>
                <a:latin typeface="Google Sans"/>
              </a:rPr>
              <a:t>-  Total Explainability: </a:t>
            </a:r>
            <a:r>
              <a:rPr sz="1000">
                <a:solidFill>
                  <a:srgbClr val="CBD5E1"/>
                </a:solidFill>
                <a:latin typeface="Google Sans"/>
              </a:rPr>
              <a:t>Every generated transformation is visible in the UI as syntax-highlighted code with complete git-style diffs.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218688" y="1371600"/>
            <a:ext cx="2697480" cy="342900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/>
          <a:lstStyle/>
          <a:p>
            <a:pPr algn="ctr">
              <a:defRPr sz="1200" b="1">
                <a:solidFill>
                  <a:srgbClr val="10B981"/>
                </a:solidFill>
                <a:latin typeface="Google Sans"/>
              </a:defRPr>
            </a:pPr>
            <a:r>
              <a:t>How Does It Solve The Problem?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38BDF8"/>
                </a:solidFill>
                <a:latin typeface="Google Sans"/>
              </a:rPr>
              <a:t>-  Autonomous Drift Interception: </a:t>
            </a:r>
            <a:r>
              <a:rPr sz="1000">
                <a:solidFill>
                  <a:srgbClr val="CBD5E1"/>
                </a:solidFill>
                <a:latin typeface="Google Sans"/>
              </a:rPr>
              <a:t>Detects polymorphic mutations (e.g. SAP nested lines, Unix timestamps, renamed keys) in real time.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38BDF8"/>
                </a:solidFill>
                <a:latin typeface="Google Sans"/>
              </a:rPr>
              <a:t>-  Sub-Second Self-Healing: </a:t>
            </a:r>
            <a:r>
              <a:rPr sz="1000">
                <a:solidFill>
                  <a:srgbClr val="CBD5E1"/>
                </a:solidFill>
                <a:latin typeface="Google Sans"/>
              </a:rPr>
              <a:t>Induces correct schemas and executes verified transformations within 406.8ms.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38BDF8"/>
                </a:solidFill>
                <a:latin typeface="Google Sans"/>
              </a:rPr>
              <a:t>-  Dead Letter Queue (DLQ): </a:t>
            </a:r>
            <a:r>
              <a:rPr sz="1000">
                <a:solidFill>
                  <a:srgbClr val="CBD5E1"/>
                </a:solidFill>
                <a:latin typeface="Google Sans"/>
              </a:rPr>
              <a:t>Irreparably corrupted files are safely quarantined to Pub/Sub DLQ with zero pipeline blockage.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38BDF8"/>
                </a:solidFill>
                <a:latin typeface="Google Sans"/>
              </a:rPr>
              <a:t>-  Continuous Learning: </a:t>
            </a:r>
            <a:r>
              <a:rPr sz="1000">
                <a:solidFill>
                  <a:srgbClr val="CBD5E1"/>
                </a:solidFill>
                <a:latin typeface="Google Sans"/>
              </a:rPr>
              <a:t>Verified AST synthesis patterns are cached in schema registry to process future matching files in &lt;5ms.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080760" y="1371600"/>
            <a:ext cx="2697480" cy="342900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/>
          <a:lstStyle/>
          <a:p>
            <a:pPr algn="ctr">
              <a:defRPr sz="1200" b="1">
                <a:solidFill>
                  <a:srgbClr val="A855F7"/>
                </a:solidFill>
                <a:latin typeface="Google Sans"/>
              </a:defRPr>
            </a:pPr>
            <a:r>
              <a:t>Unique Selling Propositions (USPs)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38BDF8"/>
                </a:solidFill>
                <a:latin typeface="Google Sans"/>
              </a:rPr>
              <a:t>-  Formal Math Invariants: </a:t>
            </a:r>
            <a:r>
              <a:rPr sz="1000">
                <a:solidFill>
                  <a:srgbClr val="CBD5E1"/>
                </a:solidFill>
                <a:latin typeface="Google Sans"/>
              </a:rPr>
              <a:t>Pandera contracts guarantee sum(Gross) == sum(Billed) and zero numerical corruption.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38BDF8"/>
                </a:solidFill>
                <a:latin typeface="Google Sans"/>
              </a:rPr>
              <a:t>-  Zero Egress gVisor Sandbox: </a:t>
            </a:r>
            <a:r>
              <a:rPr sz="1000">
                <a:solidFill>
                  <a:srgbClr val="CBD5E1"/>
                </a:solidFill>
                <a:latin typeface="Google Sans"/>
              </a:rPr>
              <a:t>Synthesized programs cannot make network calls, access disk, or exfiltrate enterprise secrets.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38BDF8"/>
                </a:solidFill>
                <a:latin typeface="Google Sans"/>
              </a:rPr>
              <a:t>-  99.4% OpEx Reduction: </a:t>
            </a:r>
            <a:r>
              <a:rPr sz="1000">
                <a:solidFill>
                  <a:srgbClr val="CBD5E1"/>
                </a:solidFill>
                <a:latin typeface="Google Sans"/>
              </a:rPr>
              <a:t>Drops ingestion unit cost from $150k engineer triage to $0.00072 per file on Google Cloud.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38BDF8"/>
                </a:solidFill>
                <a:latin typeface="Google Sans"/>
              </a:rPr>
              <a:t>-  Tri-Modal Copilot: </a:t>
            </a:r>
            <a:r>
              <a:rPr sz="1000">
                <a:solidFill>
                  <a:srgbClr val="CBD5E1"/>
                </a:solidFill>
                <a:latin typeface="Google Sans"/>
              </a:rPr>
              <a:t>Natural language chat with streaming BigQuery pipeline telemetry and instant SQL remediation.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40080"/>
            <a:ext cx="8943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E293B"/>
                </a:solidFill>
                <a:latin typeface="Google Sans"/>
              </a:defRPr>
            </a:pPr>
            <a:r>
              <a:t>List of Features: Autonomous Self-Healing &amp; Data Observability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Google Sans"/>
              </a:defRPr>
            </a:pPr>
            <a:r>
              <a:t>Enterprise-ready capabilities designed for high-throughput, mission-critical environments.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365760" y="1371600"/>
            <a:ext cx="4069080" cy="1627632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 rIns="137160"/>
          <a:lstStyle/>
          <a:p>
            <a:pPr algn="ctr">
              <a:defRPr sz="1100" b="1">
                <a:solidFill>
                  <a:srgbClr val="38BDF8"/>
                </a:solidFill>
                <a:latin typeface="Google Sans"/>
              </a:defRPr>
            </a:pPr>
            <a:r>
              <a:t>1. Autonomous Schema Drift Self-Healing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38BDF8"/>
                </a:solidFill>
                <a:latin typeface="Google Sans"/>
              </a:rPr>
              <a:t>-  AST Synthesis: </a:t>
            </a:r>
            <a:r>
              <a:rPr sz="950">
                <a:solidFill>
                  <a:srgbClr val="CBD5E1"/>
                </a:solidFill>
                <a:latin typeface="Google Sans"/>
              </a:rPr>
              <a:t>Gemini 1.5 Pro generates clean, verifiable Python AST code.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38BDF8"/>
                </a:solidFill>
                <a:latin typeface="Google Sans"/>
              </a:rPr>
              <a:t>-  Type Coercion: </a:t>
            </a:r>
            <a:r>
              <a:rPr sz="950">
                <a:solidFill>
                  <a:srgbClr val="CBD5E1"/>
                </a:solidFill>
                <a:latin typeface="Google Sans"/>
              </a:rPr>
              <a:t>Handles polymorphic types, ISO/Unix date formats, and nulls.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38BDF8"/>
                </a:solidFill>
                <a:latin typeface="Google Sans"/>
              </a:rPr>
              <a:t>-  Sub-Second SLA: </a:t>
            </a:r>
            <a:r>
              <a:rPr sz="950">
                <a:solidFill>
                  <a:srgbClr val="CBD5E1"/>
                </a:solidFill>
                <a:latin typeface="Google Sans"/>
              </a:rPr>
              <a:t>Heals and ingests drifting payloads in an average 406.8 ms.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4709160" y="1371600"/>
            <a:ext cx="4069080" cy="1627632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 rIns="137160"/>
          <a:lstStyle/>
          <a:p>
            <a:pPr algn="ctr">
              <a:defRPr sz="1100" b="1">
                <a:solidFill>
                  <a:srgbClr val="EA4335"/>
                </a:solidFill>
                <a:latin typeface="Google Sans"/>
              </a:defRPr>
            </a:pPr>
            <a:r>
              <a:t>2. Enterprise Chaos Engineering Drill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38BDF8"/>
                </a:solidFill>
                <a:latin typeface="Google Sans"/>
              </a:rPr>
              <a:t>-  7 Failure Modes: </a:t>
            </a:r>
            <a:r>
              <a:rPr sz="950">
                <a:solidFill>
                  <a:srgbClr val="CBD5E1"/>
                </a:solidFill>
                <a:latin typeface="Google Sans"/>
              </a:rPr>
              <a:t>Injects key renames, nested arrays, malformed dates, type flips.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38BDF8"/>
                </a:solidFill>
                <a:latin typeface="Google Sans"/>
              </a:rPr>
              <a:t>-  Adversarial Testing: </a:t>
            </a:r>
            <a:r>
              <a:rPr sz="950">
                <a:solidFill>
                  <a:srgbClr val="CBD5E1"/>
                </a:solidFill>
                <a:latin typeface="Google Sans"/>
              </a:rPr>
              <a:t>Proves resilience against real-world broken SAP ERP dumps.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38BDF8"/>
                </a:solidFill>
                <a:latin typeface="Google Sans"/>
              </a:rPr>
              <a:t>-  Live Visual Diff: </a:t>
            </a:r>
            <a:r>
              <a:rPr sz="950">
                <a:solidFill>
                  <a:srgbClr val="CBD5E1"/>
                </a:solidFill>
                <a:latin typeface="Google Sans"/>
              </a:rPr>
              <a:t>Side-by-side UI view of corrupted payload vs. synthesized fix.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365760" y="3154680"/>
            <a:ext cx="4069080" cy="1627632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 rIns="137160"/>
          <a:lstStyle/>
          <a:p>
            <a:pPr algn="ctr">
              <a:defRPr sz="1100" b="1">
                <a:solidFill>
                  <a:srgbClr val="FBBC05"/>
                </a:solidFill>
                <a:latin typeface="Google Sans"/>
              </a:defRPr>
            </a:pPr>
            <a:r>
              <a:t>3. Zero-Loss Pub/Sub Buffer &amp; DLQ Quarantine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38BDF8"/>
                </a:solidFill>
                <a:latin typeface="Google Sans"/>
              </a:rPr>
              <a:t>-  Burst Absorption: </a:t>
            </a:r>
            <a:r>
              <a:rPr sz="950">
                <a:solidFill>
                  <a:srgbClr val="CBD5E1"/>
                </a:solidFill>
                <a:latin typeface="Google Sans"/>
              </a:rPr>
              <a:t>Cloud Pub/Sub handles massive ingestion bursts with zero drop.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38BDF8"/>
                </a:solidFill>
                <a:latin typeface="Google Sans"/>
              </a:rPr>
              <a:t>-  DLQ Isolation: </a:t>
            </a:r>
            <a:r>
              <a:rPr sz="950">
                <a:solidFill>
                  <a:srgbClr val="CBD5E1"/>
                </a:solidFill>
                <a:latin typeface="Google Sans"/>
              </a:rPr>
              <a:t>Irreparable records safely routed to Dead Letter Queue for audit.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38BDF8"/>
                </a:solidFill>
                <a:latin typeface="Google Sans"/>
              </a:rPr>
              <a:t>-  One-Click Replay: </a:t>
            </a:r>
            <a:r>
              <a:rPr sz="950">
                <a:solidFill>
                  <a:srgbClr val="CBD5E1"/>
                </a:solidFill>
                <a:latin typeface="Google Sans"/>
              </a:rPr>
              <a:t>Engineers can inspect DLQ diagnostics and replay healed batches.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709160" y="3154680"/>
            <a:ext cx="4069080" cy="1627632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 rIns="137160"/>
          <a:lstStyle/>
          <a:p>
            <a:pPr algn="ctr">
              <a:defRPr sz="1100" b="1">
                <a:solidFill>
                  <a:srgbClr val="10B981"/>
                </a:solidFill>
                <a:latin typeface="Google Sans"/>
              </a:defRPr>
            </a:pPr>
            <a:r>
              <a:t>4. Tri-Modal Operational Copilot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38BDF8"/>
                </a:solidFill>
                <a:latin typeface="Google Sans"/>
              </a:rPr>
              <a:t>-  Gemini 1.5 Flash: </a:t>
            </a:r>
            <a:r>
              <a:rPr sz="950">
                <a:solidFill>
                  <a:srgbClr val="CBD5E1"/>
                </a:solidFill>
                <a:latin typeface="Google Sans"/>
              </a:rPr>
              <a:t>Multi-turn streaming conversational assistant for pipeline telemetry.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38BDF8"/>
                </a:solidFill>
                <a:latin typeface="Google Sans"/>
              </a:rPr>
              <a:t>-  Root-Cause Triage: </a:t>
            </a:r>
            <a:r>
              <a:rPr sz="950">
                <a:solidFill>
                  <a:srgbClr val="CBD5E1"/>
                </a:solidFill>
                <a:latin typeface="Google Sans"/>
              </a:rPr>
              <a:t>Explains schema mutations and recommends BigQuery optimizations.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38BDF8"/>
                </a:solidFill>
                <a:latin typeface="Google Sans"/>
              </a:rPr>
              <a:t>-  Automated SQL: </a:t>
            </a:r>
            <a:r>
              <a:rPr sz="950">
                <a:solidFill>
                  <a:srgbClr val="CBD5E1"/>
                </a:solidFill>
                <a:latin typeface="Google Sans"/>
              </a:rPr>
              <a:t>Generates compliant BigQuery SQL transformation scripts on demand.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40080"/>
            <a:ext cx="8943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E293B"/>
                </a:solidFill>
                <a:latin typeface="Google Sans"/>
              </a:defRPr>
            </a:pPr>
            <a:r>
              <a:t>Process Flow: Autonomous ARC-AGI 4-Stage Ingestion Lifecycle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Google Sans"/>
              </a:defRPr>
            </a:pPr>
            <a:r>
              <a:t>From raw messy polymorphic files to verified, clean BigQuery lakehouse tables.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365760" y="1371600"/>
            <a:ext cx="1965960" cy="342900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37160" rIns="109728"/>
          <a:lstStyle/>
          <a:p>
            <a:pPr algn="ctr">
              <a:defRPr sz="1000" b="1">
                <a:solidFill>
                  <a:srgbClr val="4285F4"/>
                </a:solidFill>
                <a:latin typeface="Google Sans"/>
              </a:defRPr>
            </a:pPr>
            <a:r>
              <a:t>STAGE 1</a:t>
            </a:r>
          </a:p>
          <a:p>
            <a:pPr>
              <a:spcAft>
                <a:spcPts val="600"/>
              </a:spcAft>
              <a:defRPr sz="1100" b="1">
                <a:solidFill>
                  <a:srgbClr val="FFFFFF"/>
                </a:solidFill>
                <a:latin typeface="Google Sans"/>
              </a:defRPr>
            </a:pPr>
            <a:r>
              <a:t>Observation &amp; Invariant Discovery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4285F4"/>
                </a:solidFill>
                <a:latin typeface="Google Sans"/>
              </a:rPr>
              <a:t>-  Raw Payload Ingest: </a:t>
            </a:r>
            <a:r>
              <a:rPr sz="900">
                <a:solidFill>
                  <a:srgbClr val="CBD5E1"/>
                </a:solidFill>
                <a:latin typeface="Google Sans"/>
              </a:rPr>
              <a:t>Receives messy JSON/CSV from ERP, S3, or GCS.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4285F4"/>
                </a:solidFill>
                <a:latin typeface="Google Sans"/>
              </a:rPr>
              <a:t>-  Shape Inspection: </a:t>
            </a:r>
            <a:r>
              <a:rPr sz="900">
                <a:solidFill>
                  <a:srgbClr val="CBD5E1"/>
                </a:solidFill>
                <a:latin typeface="Google Sans"/>
              </a:rPr>
              <a:t>Analyzes key topologies, types, and null patterns.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4285F4"/>
                </a:solidFill>
                <a:latin typeface="Google Sans"/>
              </a:rPr>
              <a:t>-  Invariant Extraction: </a:t>
            </a:r>
            <a:r>
              <a:rPr sz="900">
                <a:solidFill>
                  <a:srgbClr val="CBD5E1"/>
                </a:solidFill>
                <a:latin typeface="Google Sans"/>
              </a:rPr>
              <a:t>Identifies financial balance formulas (Gross = Net + Tax).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4285F4"/>
                </a:solidFill>
                <a:latin typeface="Google Sans"/>
              </a:rPr>
              <a:t>-  Drift Classification: </a:t>
            </a:r>
            <a:r>
              <a:rPr sz="900">
                <a:solidFill>
                  <a:srgbClr val="CBD5E1"/>
                </a:solidFill>
                <a:latin typeface="Google Sans"/>
              </a:rPr>
              <a:t>Categorizes mutation: rename, type, or nesting.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2468879" y="1371600"/>
            <a:ext cx="1965960" cy="342900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37160" rIns="109728"/>
          <a:lstStyle/>
          <a:p>
            <a:pPr algn="ctr">
              <a:defRPr sz="1000" b="1">
                <a:solidFill>
                  <a:srgbClr val="A855F7"/>
                </a:solidFill>
                <a:latin typeface="Google Sans"/>
              </a:defRPr>
            </a:pPr>
            <a:r>
              <a:t>STAGE 2</a:t>
            </a:r>
          </a:p>
          <a:p>
            <a:pPr>
              <a:spcAft>
                <a:spcPts val="600"/>
              </a:spcAft>
              <a:defRPr sz="1100" b="1">
                <a:solidFill>
                  <a:srgbClr val="FFFFFF"/>
                </a:solidFill>
                <a:latin typeface="Google Sans"/>
              </a:defRPr>
            </a:pPr>
            <a:r>
              <a:t>Neuro-Symbolic Synthesis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A855F7"/>
                </a:solidFill>
                <a:latin typeface="Google Sans"/>
              </a:rPr>
              <a:t>-  Gemini 1.5 Pro Call: </a:t>
            </a:r>
            <a:r>
              <a:rPr sz="900">
                <a:solidFill>
                  <a:srgbClr val="CBD5E1"/>
                </a:solidFill>
                <a:latin typeface="Google Sans"/>
              </a:rPr>
              <a:t>Sends canonical schema + input topology delta.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A855F7"/>
                </a:solidFill>
                <a:latin typeface="Google Sans"/>
              </a:rPr>
              <a:t>-  Python AST Generation: </a:t>
            </a:r>
            <a:r>
              <a:rPr sz="900">
                <a:solidFill>
                  <a:srgbClr val="CBD5E1"/>
                </a:solidFill>
                <a:latin typeface="Google Sans"/>
              </a:rPr>
              <a:t>Synthesizes typed Python transformation functions.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A855F7"/>
                </a:solidFill>
                <a:latin typeface="Google Sans"/>
              </a:rPr>
              <a:t>-  Syntax Verification: </a:t>
            </a:r>
            <a:r>
              <a:rPr sz="900">
                <a:solidFill>
                  <a:srgbClr val="CBD5E1"/>
                </a:solidFill>
                <a:latin typeface="Google Sans"/>
              </a:rPr>
              <a:t>Validates python AST validity via ast.parse().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A855F7"/>
                </a:solidFill>
                <a:latin typeface="Google Sans"/>
              </a:rPr>
              <a:t>-  Zero Hallucination: </a:t>
            </a:r>
            <a:r>
              <a:rPr sz="900">
                <a:solidFill>
                  <a:srgbClr val="CBD5E1"/>
                </a:solidFill>
                <a:latin typeface="Google Sans"/>
              </a:rPr>
              <a:t>Code logic generated without modifying raw values.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4572000" y="1371600"/>
            <a:ext cx="1965960" cy="342900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37160" rIns="109728"/>
          <a:lstStyle/>
          <a:p>
            <a:pPr algn="ctr">
              <a:defRPr sz="1000" b="1">
                <a:solidFill>
                  <a:srgbClr val="10B981"/>
                </a:solidFill>
                <a:latin typeface="Google Sans"/>
              </a:defRPr>
            </a:pPr>
            <a:r>
              <a:t>STAGE 3</a:t>
            </a:r>
          </a:p>
          <a:p>
            <a:pPr>
              <a:spcAft>
                <a:spcPts val="600"/>
              </a:spcAft>
              <a:defRPr sz="1100" b="1">
                <a:solidFill>
                  <a:srgbClr val="FFFFFF"/>
                </a:solidFill>
                <a:latin typeface="Google Sans"/>
              </a:defRPr>
            </a:pPr>
            <a:r>
              <a:t>Sandboxed Verification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10B981"/>
                </a:solidFill>
                <a:latin typeface="Google Sans"/>
              </a:rPr>
              <a:t>-  gVisor Container: </a:t>
            </a:r>
            <a:r>
              <a:rPr sz="900">
                <a:solidFill>
                  <a:srgbClr val="CBD5E1"/>
                </a:solidFill>
                <a:latin typeface="Google Sans"/>
              </a:rPr>
              <a:t>Executes synthesized code in secure sandbox.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10B981"/>
                </a:solidFill>
                <a:latin typeface="Google Sans"/>
              </a:rPr>
              <a:t>-  Pandera Contracts: </a:t>
            </a:r>
            <a:r>
              <a:rPr sz="900">
                <a:solidFill>
                  <a:srgbClr val="CBD5E1"/>
                </a:solidFill>
                <a:latin typeface="Google Sans"/>
              </a:rPr>
              <a:t>Enforces column types, ranges, and not-null rules.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10B981"/>
                </a:solidFill>
                <a:latin typeface="Google Sans"/>
              </a:rPr>
              <a:t>-  Math Invariant Check: </a:t>
            </a:r>
            <a:r>
              <a:rPr sz="900">
                <a:solidFill>
                  <a:srgbClr val="CBD5E1"/>
                </a:solidFill>
                <a:latin typeface="Google Sans"/>
              </a:rPr>
              <a:t>Validates sum(Gross) == sum(Billed) strictly.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10B981"/>
                </a:solidFill>
                <a:latin typeface="Google Sans"/>
              </a:rPr>
              <a:t>-  Failure Recovery: </a:t>
            </a:r>
            <a:r>
              <a:rPr sz="900">
                <a:solidFill>
                  <a:srgbClr val="CBD5E1"/>
                </a:solidFill>
                <a:latin typeface="Google Sans"/>
              </a:rPr>
              <a:t>If contract fails, feeds traceback back to Gemini.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675120" y="1371600"/>
            <a:ext cx="1965960" cy="342900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37160" rIns="109728"/>
          <a:lstStyle/>
          <a:p>
            <a:pPr algn="ctr">
              <a:defRPr sz="1000" b="1">
                <a:solidFill>
                  <a:srgbClr val="FBBC05"/>
                </a:solidFill>
                <a:latin typeface="Google Sans"/>
              </a:defRPr>
            </a:pPr>
            <a:r>
              <a:t>STAGE 4</a:t>
            </a:r>
          </a:p>
          <a:p>
            <a:pPr>
              <a:spcAft>
                <a:spcPts val="600"/>
              </a:spcAft>
              <a:defRPr sz="1100" b="1">
                <a:solidFill>
                  <a:srgbClr val="FFFFFF"/>
                </a:solidFill>
                <a:latin typeface="Google Sans"/>
              </a:defRPr>
            </a:pPr>
            <a:r>
              <a:t>Lakehouse Streaming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FBBC05"/>
                </a:solidFill>
                <a:latin typeface="Google Sans"/>
              </a:rPr>
              <a:t>-  BigQuery Streaming: </a:t>
            </a:r>
            <a:r>
              <a:rPr sz="900">
                <a:solidFill>
                  <a:srgbClr val="CBD5E1"/>
                </a:solidFill>
                <a:latin typeface="Google Sans"/>
              </a:rPr>
              <a:t>Inserts verified records directly into partitioned table.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FBBC05"/>
                </a:solidFill>
                <a:latin typeface="Google Sans"/>
              </a:rPr>
              <a:t>-  Schema Registry Sync: </a:t>
            </a:r>
            <a:r>
              <a:rPr sz="900">
                <a:solidFill>
                  <a:srgbClr val="CBD5E1"/>
                </a:solidFill>
                <a:latin typeface="Google Sans"/>
              </a:rPr>
              <a:t>Caches successful AST mapping for instant reuse.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FBBC05"/>
                </a:solidFill>
                <a:latin typeface="Google Sans"/>
              </a:rPr>
              <a:t>-  DLQ Routing: </a:t>
            </a:r>
            <a:r>
              <a:rPr sz="900">
                <a:solidFill>
                  <a:srgbClr val="CBD5E1"/>
                </a:solidFill>
                <a:latin typeface="Google Sans"/>
              </a:rPr>
              <a:t>Corrupt records quarantined to Pub/Sub DLQ.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FBBC05"/>
                </a:solidFill>
                <a:latin typeface="Google Sans"/>
              </a:rPr>
              <a:t>-  Full Audit Trail: </a:t>
            </a:r>
            <a:r>
              <a:rPr sz="900">
                <a:solidFill>
                  <a:srgbClr val="CBD5E1"/>
                </a:solidFill>
                <a:latin typeface="Google Sans"/>
              </a:rPr>
              <a:t>Structured Cloud Logging with latency &amp; trace IDs.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40080"/>
            <a:ext cx="8943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E293B"/>
                </a:solidFill>
                <a:latin typeface="Google Sans"/>
              </a:defRPr>
            </a:pPr>
            <a:r>
              <a:t>Wireframes &amp; System Workflow: Enterprise UX &amp; Resilient Observability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Google Sans"/>
              </a:defRPr>
            </a:pPr>
            <a:r>
              <a:t>Designed for operational clarity, developer velocity, and executive governance.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365760" y="1371600"/>
            <a:ext cx="4069080" cy="342900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100" b="1">
                <a:solidFill>
                  <a:srgbClr val="38BDF8"/>
                </a:solidFill>
                <a:latin typeface="Google Sans"/>
              </a:defRPr>
            </a:pPr>
            <a:r>
              <a:t>View 1: Real-Time Self-Healing Drill Canvas</a:t>
            </a:r>
          </a:p>
        </p:txBody>
      </p:sp>
      <p:pic>
        <p:nvPicPr>
          <p:cNvPr id="105" name="Picture 104" descr="live_view1_chaos_heal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1737360"/>
            <a:ext cx="3794760" cy="2057400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502920" y="3886200"/>
            <a:ext cx="37947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spcAft>
                <a:spcPts val="300"/>
              </a:spcAft>
            </a:pPr>
            <a:r>
              <a:rPr b="1" sz="850">
                <a:solidFill>
                  <a:srgbClr val="38BDF8"/>
                </a:solidFill>
                <a:latin typeface="Google Sans"/>
              </a:rPr>
              <a:t>-  Side-by-Side Diff: </a:t>
            </a:r>
            <a:r>
              <a:rPr sz="850">
                <a:solidFill>
                  <a:srgbClr val="CBD5E1"/>
                </a:solidFill>
                <a:latin typeface="Google Sans"/>
              </a:rPr>
              <a:t>Live comparison of drifting SAP ERP JSON vs. Synthesized AST code.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10B981"/>
                </a:solidFill>
                <a:latin typeface="Google Sans"/>
              </a:rPr>
              <a:t>-  Sub-Second Pulse: </a:t>
            </a:r>
            <a:r>
              <a:rPr sz="850">
                <a:solidFill>
                  <a:srgbClr val="CBD5E1"/>
                </a:solidFill>
                <a:latin typeface="Google Sans"/>
              </a:rPr>
              <a:t>Execution duration badge (406.8ms), memory stats, and Pandera status.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4709160" y="1371600"/>
            <a:ext cx="4069080" cy="342900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100" b="1">
                <a:solidFill>
                  <a:srgbClr val="A855F7"/>
                </a:solidFill>
                <a:latin typeface="Google Sans"/>
              </a:defRPr>
            </a:pPr>
            <a:r>
              <a:t>View 3: Multi-Turn Copilot &amp; Execution Logs</a:t>
            </a:r>
          </a:p>
        </p:txBody>
      </p:sp>
      <p:pic>
        <p:nvPicPr>
          <p:cNvPr id="108" name="Picture 107" descr="live_copilot_chat_multitur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1737360"/>
            <a:ext cx="3794760" cy="2057400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4846320" y="3886200"/>
            <a:ext cx="37947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spcAft>
                <a:spcPts val="300"/>
              </a:spcAft>
            </a:pPr>
            <a:r>
              <a:rPr b="1" sz="850">
                <a:solidFill>
                  <a:srgbClr val="A855F7"/>
                </a:solidFill>
                <a:latin typeface="Google Sans"/>
              </a:rPr>
              <a:t>-  Conversational AI: </a:t>
            </a:r>
            <a:r>
              <a:rPr sz="850">
                <a:solidFill>
                  <a:srgbClr val="CBD5E1"/>
                </a:solidFill>
                <a:latin typeface="Google Sans"/>
              </a:rPr>
              <a:t>Gemini 1.5 Flash provides multi-turn triage and instant root-cause analysis.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FBBC05"/>
                </a:solidFill>
                <a:latin typeface="Google Sans"/>
              </a:rPr>
              <a:t>-  DLQ Quarantine: </a:t>
            </a:r>
            <a:r>
              <a:rPr sz="850">
                <a:solidFill>
                  <a:srgbClr val="CBD5E1"/>
                </a:solidFill>
                <a:latin typeface="Google Sans"/>
              </a:rPr>
              <a:t>Inspect quarantined messages, view raw stack traces, and trigger replay.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40080"/>
            <a:ext cx="8943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E293B"/>
                </a:solidFill>
                <a:latin typeface="Google Sans"/>
              </a:defRPr>
            </a:pPr>
            <a:r>
              <a:t>Architecture Diagram: Google Cloud Native Distributed Architecture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Google Sans"/>
              </a:defRPr>
            </a:pPr>
            <a:r>
              <a:t>End-to-end serverless, fault-tolerant ingestion topology with enterprise security boundaries.</a:t>
            </a:r>
          </a:p>
        </p:txBody>
      </p:sp>
      <p:pic>
        <p:nvPicPr>
          <p:cNvPr id="112" name="Picture 111" descr="gcp_system_architecture_diagram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1371600"/>
            <a:ext cx="5303520" cy="3429000"/>
          </a:xfrm>
          <a:prstGeom prst="rect">
            <a:avLst/>
          </a:prstGeom>
        </p:spPr>
      </p:pic>
      <p:sp>
        <p:nvSpPr>
          <p:cNvPr id="113" name="Rounded Rectangle 112"/>
          <p:cNvSpPr/>
          <p:nvPr/>
        </p:nvSpPr>
        <p:spPr>
          <a:xfrm>
            <a:off x="5852160" y="1371600"/>
            <a:ext cx="2926080" cy="342900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/>
          <a:lstStyle/>
          <a:p>
            <a:pPr algn="ctr">
              <a:defRPr sz="1150" b="1">
                <a:solidFill>
                  <a:srgbClr val="38BDF8"/>
                </a:solidFill>
                <a:latin typeface="Google Sans"/>
              </a:defRPr>
            </a:pPr>
            <a:r>
              <a:t>Google Cloud Service Topology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4285F4"/>
                </a:solidFill>
                <a:latin typeface="Google Sans"/>
              </a:rPr>
              <a:t>-  Google Cloud Run: </a:t>
            </a:r>
            <a:r>
              <a:rPr sz="900">
                <a:solidFill>
                  <a:srgbClr val="CBD5E1"/>
                </a:solidFill>
                <a:latin typeface="Google Sans"/>
              </a:rPr>
              <a:t>Serverless microservice container hosting Fastify API &amp; React Vite client with autoscaling 0 to 1,000.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FBBC05"/>
                </a:solidFill>
                <a:latin typeface="Google Sans"/>
              </a:rPr>
              <a:t>-  Cloud Pub/Sub: </a:t>
            </a:r>
            <a:r>
              <a:rPr sz="900">
                <a:solidFill>
                  <a:srgbClr val="CBD5E1"/>
                </a:solidFill>
                <a:latin typeface="Google Sans"/>
              </a:rPr>
              <a:t>Decouples burst ingestion traffic; guaranteed at-least-once delivery + automated DLQ quarantine.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4285F4"/>
                </a:solidFill>
                <a:latin typeface="Google Sans"/>
              </a:rPr>
              <a:t>-  Google BigQuery: </a:t>
            </a:r>
            <a:r>
              <a:rPr sz="900">
                <a:solidFill>
                  <a:srgbClr val="CBD5E1"/>
                </a:solidFill>
                <a:latin typeface="Google Sans"/>
              </a:rPr>
              <a:t>Enterprise lakehouse partitioned storage; sub-second streaming inserts and audit lineage.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A855F7"/>
                </a:solidFill>
                <a:latin typeface="Google Sans"/>
              </a:rPr>
              <a:t>-  Dual Gemini Models: </a:t>
            </a:r>
            <a:r>
              <a:rPr sz="900">
                <a:solidFill>
                  <a:srgbClr val="CBD5E1"/>
                </a:solidFill>
                <a:latin typeface="Google Sans"/>
              </a:rPr>
              <a:t>Gemini 1.5 Pro for AST code synthesis + Gemini 1.5 Flash for interactive low-latency Copilot.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10B981"/>
                </a:solidFill>
                <a:latin typeface="Google Sans"/>
              </a:rPr>
              <a:t>-  Cloud Logging &amp; IAM: </a:t>
            </a:r>
            <a:r>
              <a:rPr sz="900">
                <a:solidFill>
                  <a:srgbClr val="CBD5E1"/>
                </a:solidFill>
                <a:latin typeface="Google Sans"/>
              </a:rPr>
              <a:t>Structured JSON observability with distributed trace IDs and least-privilege security.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40080"/>
            <a:ext cx="8943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E293B"/>
                </a:solidFill>
                <a:latin typeface="Google Sans"/>
              </a:defRPr>
            </a:pPr>
            <a:r>
              <a:t>Technologies to be Used: Google Cloud Ecosystem &amp; Dual Gemini Models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Google Sans"/>
              </a:defRPr>
            </a:pPr>
            <a:r>
              <a:t>Best-in-class Google Cloud infrastructure and modern AI engineering stack.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365760" y="1371600"/>
            <a:ext cx="4069080" cy="1627632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 rIns="137160"/>
          <a:lstStyle/>
          <a:p>
            <a:pPr algn="ctr">
              <a:defRPr sz="1100" b="1">
                <a:solidFill>
                  <a:srgbClr val="4285F4"/>
                </a:solidFill>
                <a:latin typeface="Google Sans"/>
              </a:defRPr>
            </a:pPr>
            <a:r>
              <a:t>Google Cloud Platform (GCP)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38BDF8"/>
                </a:solidFill>
                <a:latin typeface="Google Sans"/>
              </a:rPr>
              <a:t>-  Cloud Run: </a:t>
            </a:r>
            <a:r>
              <a:rPr sz="950">
                <a:solidFill>
                  <a:srgbClr val="CBD5E1"/>
                </a:solidFill>
                <a:latin typeface="Google Sans"/>
              </a:rPr>
              <a:t>Serverless container execution, autoscaling, zero idle cost.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38BDF8"/>
                </a:solidFill>
                <a:latin typeface="Google Sans"/>
              </a:rPr>
              <a:t>-  Google BigQuery: </a:t>
            </a:r>
            <a:r>
              <a:rPr sz="950">
                <a:solidFill>
                  <a:srgbClr val="CBD5E1"/>
                </a:solidFill>
                <a:latin typeface="Google Sans"/>
              </a:rPr>
              <a:t>Enterprise lakehouse, partitioned tables, streaming inserts.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38BDF8"/>
                </a:solidFill>
                <a:latin typeface="Google Sans"/>
              </a:rPr>
              <a:t>-  Cloud Pub/Sub: </a:t>
            </a:r>
            <a:r>
              <a:rPr sz="950">
                <a:solidFill>
                  <a:srgbClr val="CBD5E1"/>
                </a:solidFill>
                <a:latin typeface="Google Sans"/>
              </a:rPr>
              <a:t>Decoupled asynchronous message buffer &amp; Dead Letter Queue.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38BDF8"/>
                </a:solidFill>
                <a:latin typeface="Google Sans"/>
              </a:rPr>
              <a:t>-  Cloud Logging: </a:t>
            </a:r>
            <a:r>
              <a:rPr sz="950">
                <a:solidFill>
                  <a:srgbClr val="CBD5E1"/>
                </a:solidFill>
                <a:latin typeface="Google Sans"/>
              </a:rPr>
              <a:t>Structured JSON telemetry and distributed tracing.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4709160" y="1371600"/>
            <a:ext cx="4069080" cy="1627632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 rIns="137160"/>
          <a:lstStyle/>
          <a:p>
            <a:pPr algn="ctr">
              <a:defRPr sz="1100" b="1">
                <a:solidFill>
                  <a:srgbClr val="A855F7"/>
                </a:solidFill>
                <a:latin typeface="Google Sans"/>
              </a:defRPr>
            </a:pPr>
            <a:r>
              <a:t>Google Gemini Foundation Models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38BDF8"/>
                </a:solidFill>
                <a:latin typeface="Google Sans"/>
              </a:rPr>
              <a:t>-  Gemini 1.5 Pro: </a:t>
            </a:r>
            <a:r>
              <a:rPr sz="950">
                <a:solidFill>
                  <a:srgbClr val="CBD5E1"/>
                </a:solidFill>
                <a:latin typeface="Google Sans"/>
              </a:rPr>
              <a:t>1M context window, deep structural reasoning, AST program synthesis.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38BDF8"/>
                </a:solidFill>
                <a:latin typeface="Google Sans"/>
              </a:rPr>
              <a:t>-  Gemini 1.5 Flash: </a:t>
            </a:r>
            <a:r>
              <a:rPr sz="950">
                <a:solidFill>
                  <a:srgbClr val="CBD5E1"/>
                </a:solidFill>
                <a:latin typeface="Google Sans"/>
              </a:rPr>
              <a:t>Sub-500ms streaming latency, multi-turn operational Copilot.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38BDF8"/>
                </a:solidFill>
                <a:latin typeface="Google Sans"/>
              </a:rPr>
              <a:t>-  Prompt Caching: </a:t>
            </a:r>
            <a:r>
              <a:rPr sz="950">
                <a:solidFill>
                  <a:srgbClr val="CBD5E1"/>
                </a:solidFill>
                <a:latin typeface="Google Sans"/>
              </a:rPr>
              <a:t>Reuses canonical schema representations for ultra-low latency.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38BDF8"/>
                </a:solidFill>
                <a:latin typeface="Google Sans"/>
              </a:rPr>
              <a:t>-  Zero Data Retention: </a:t>
            </a:r>
            <a:r>
              <a:rPr sz="950">
                <a:solidFill>
                  <a:srgbClr val="CBD5E1"/>
                </a:solidFill>
                <a:latin typeface="Google Sans"/>
              </a:rPr>
              <a:t>Enterprise confidentiality with zero customer data training.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365760" y="3154680"/>
            <a:ext cx="4069080" cy="1627632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 rIns="137160"/>
          <a:lstStyle/>
          <a:p>
            <a:pPr algn="ctr">
              <a:defRPr sz="1100" b="1">
                <a:solidFill>
                  <a:srgbClr val="10B981"/>
                </a:solidFill>
                <a:latin typeface="Google Sans"/>
              </a:defRPr>
            </a:pPr>
            <a:r>
              <a:t>Neuro-Symbolic &amp; Quality Stack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38BDF8"/>
                </a:solidFill>
                <a:latin typeface="Google Sans"/>
              </a:rPr>
              <a:t>-  Python AST: </a:t>
            </a:r>
            <a:r>
              <a:rPr sz="950">
                <a:solidFill>
                  <a:srgbClr val="CBD5E1"/>
                </a:solidFill>
                <a:latin typeface="Google Sans"/>
              </a:rPr>
              <a:t>Deterministic code compilation, syntax validation, sandboxed eval.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38BDF8"/>
                </a:solidFill>
                <a:latin typeface="Google Sans"/>
              </a:rPr>
              <a:t>-  Pandera: </a:t>
            </a:r>
            <a:r>
              <a:rPr sz="950">
                <a:solidFill>
                  <a:srgbClr val="CBD5E1"/>
                </a:solidFill>
                <a:latin typeface="Google Sans"/>
              </a:rPr>
              <a:t>Statistical schema contracts, data type enforcement, range validation.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38BDF8"/>
                </a:solidFill>
                <a:latin typeface="Google Sans"/>
              </a:rPr>
              <a:t>-  gVisor Runtime: </a:t>
            </a:r>
            <a:r>
              <a:rPr sz="950">
                <a:solidFill>
                  <a:srgbClr val="CBD5E1"/>
                </a:solidFill>
                <a:latin typeface="Google Sans"/>
              </a:rPr>
              <a:t>Restricted container sandbox with zero egress and blocked sys-calls.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38BDF8"/>
                </a:solidFill>
                <a:latin typeface="Google Sans"/>
              </a:rPr>
              <a:t>-  Formal Invariants: </a:t>
            </a:r>
            <a:r>
              <a:rPr sz="950">
                <a:solidFill>
                  <a:srgbClr val="CBD5E1"/>
                </a:solidFill>
                <a:latin typeface="Google Sans"/>
              </a:rPr>
              <a:t>Mathematical conservation guarantees (sum Gross == sum Billed).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4709160" y="3154680"/>
            <a:ext cx="4069080" cy="1627632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 rIns="137160"/>
          <a:lstStyle/>
          <a:p>
            <a:pPr algn="ctr">
              <a:defRPr sz="1100" b="1">
                <a:solidFill>
                  <a:srgbClr val="38BDF8"/>
                </a:solidFill>
                <a:latin typeface="Google Sans"/>
              </a:defRPr>
            </a:pPr>
            <a:r>
              <a:t>Enterprise Application Framework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38BDF8"/>
                </a:solidFill>
                <a:latin typeface="Google Sans"/>
              </a:rPr>
              <a:t>-  React 18 + Vite: </a:t>
            </a:r>
            <a:r>
              <a:rPr sz="950">
                <a:solidFill>
                  <a:srgbClr val="CBD5E1"/>
                </a:solidFill>
                <a:latin typeface="Google Sans"/>
              </a:rPr>
              <a:t>High-performance client with Linear/Vercel enterprise dark styling.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38BDF8"/>
                </a:solidFill>
                <a:latin typeface="Google Sans"/>
              </a:rPr>
              <a:t>-  Fastify Microservice: </a:t>
            </a:r>
            <a:r>
              <a:rPr sz="950">
                <a:solidFill>
                  <a:srgbClr val="CBD5E1"/>
                </a:solidFill>
                <a:latin typeface="Google Sans"/>
              </a:rPr>
              <a:t>High-throughput Node.js backend with JSON schema validation.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38BDF8"/>
                </a:solidFill>
                <a:latin typeface="Google Sans"/>
              </a:rPr>
              <a:t>-  Shadcn Component System: </a:t>
            </a:r>
            <a:r>
              <a:rPr sz="950">
                <a:solidFill>
                  <a:srgbClr val="CBD5E1"/>
                </a:solidFill>
                <a:latin typeface="Google Sans"/>
              </a:rPr>
              <a:t>Accessible modals, data tables, command palette, and drawers.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38BDF8"/>
                </a:solidFill>
                <a:latin typeface="Google Sans"/>
              </a:rPr>
              <a:t>-  Docker &amp; Artifact Registry: </a:t>
            </a:r>
            <a:r>
              <a:rPr sz="950">
                <a:solidFill>
                  <a:srgbClr val="CBD5E1"/>
                </a:solidFill>
                <a:latin typeface="Google Sans"/>
              </a:rPr>
              <a:t>Multi-stage minimal image deployment to Google Cloud Run.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40080"/>
            <a:ext cx="8943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E293B"/>
                </a:solidFill>
                <a:latin typeface="Google Sans"/>
              </a:defRPr>
            </a:pPr>
            <a:r>
              <a:t>Estimated Implementation Cost: Serverless Cloud Economics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Google Sans"/>
              </a:defRPr>
            </a:pPr>
            <a:r>
              <a:t>Sub-cent ingestion cost delivering a 99.4% reduction in enterprise operational expenditure.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365760" y="1371600"/>
            <a:ext cx="4069080" cy="342900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 rIns="182880"/>
          <a:lstStyle/>
          <a:p>
            <a:pPr algn="ctr">
              <a:defRPr sz="1200" b="1">
                <a:solidFill>
                  <a:srgbClr val="10B981"/>
                </a:solidFill>
                <a:latin typeface="Google Sans"/>
              </a:defRPr>
            </a:pPr>
            <a:r>
              <a:t>GCP Cloud Cost (100,000 Ingestions/Mo)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38BDF8"/>
                </a:solidFill>
                <a:latin typeface="Google Sans"/>
              </a:rPr>
              <a:t>-  Cloud Run Compute: </a:t>
            </a:r>
            <a:r>
              <a:rPr sz="1000">
                <a:solidFill>
                  <a:srgbClr val="CBD5E1"/>
                </a:solidFill>
                <a:latin typeface="Google Sans"/>
              </a:rPr>
              <a:t>2 vCPU / 4GB RAM @ 0.4s avg execution = ~$2.80 / month.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38BDF8"/>
                </a:solidFill>
                <a:latin typeface="Google Sans"/>
              </a:rPr>
              <a:t>-  Cloud Pub/Sub: </a:t>
            </a:r>
            <a:r>
              <a:rPr sz="1000">
                <a:solidFill>
                  <a:srgbClr val="CBD5E1"/>
                </a:solidFill>
                <a:latin typeface="Google Sans"/>
              </a:rPr>
              <a:t>100k messages (50MB payload throughput) = ~$0.05 / month.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38BDF8"/>
                </a:solidFill>
                <a:latin typeface="Google Sans"/>
              </a:rPr>
              <a:t>-  BigQuery Lakehouse: </a:t>
            </a:r>
            <a:r>
              <a:rPr sz="1000">
                <a:solidFill>
                  <a:srgbClr val="CBD5E1"/>
                </a:solidFill>
                <a:latin typeface="Google Sans"/>
              </a:rPr>
              <a:t>100k streaming inserts + 5GB active storage = ~$0.15 / month.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38BDF8"/>
                </a:solidFill>
                <a:latin typeface="Google Sans"/>
              </a:rPr>
              <a:t>-  Gemini 1.5 Pro &amp; Flash: </a:t>
            </a:r>
            <a:r>
              <a:rPr sz="1000">
                <a:solidFill>
                  <a:srgbClr val="CBD5E1"/>
                </a:solidFill>
                <a:latin typeface="Google Sans"/>
              </a:rPr>
              <a:t>Cached prompt synthesis + Flash copilot queries = ~$4.15 / month.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FBBC05"/>
                </a:solidFill>
                <a:latin typeface="Google Sans"/>
              </a:rPr>
              <a:t>-  Total Monthly Cloud Spend: </a:t>
            </a:r>
            <a:r>
              <a:rPr sz="1000">
                <a:solidFill>
                  <a:srgbClr val="CBD5E1"/>
                </a:solidFill>
                <a:latin typeface="Google Sans"/>
              </a:rPr>
              <a:t>$7.15 / month (~$0.00007 per ingested file!).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38BDF8"/>
                </a:solidFill>
                <a:latin typeface="Google Sans"/>
              </a:rPr>
              <a:t>-  Zero Idle Overhead: </a:t>
            </a:r>
            <a:r>
              <a:rPr sz="1000">
                <a:solidFill>
                  <a:srgbClr val="CBD5E1"/>
                </a:solidFill>
                <a:latin typeface="Google Sans"/>
              </a:rPr>
              <a:t>Serverless scale-to-zero architecture incurs $0 when idle.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4709160" y="1371600"/>
            <a:ext cx="4069080" cy="342900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 rIns="182880"/>
          <a:lstStyle/>
          <a:p>
            <a:pPr algn="ctr">
              <a:defRPr sz="1200" b="1">
                <a:solidFill>
                  <a:srgbClr val="FBBC05"/>
                </a:solidFill>
                <a:latin typeface="Google Sans"/>
              </a:defRPr>
            </a:pPr>
            <a:r>
              <a:t>Enterprise ROI &amp; Labor Economics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38BDF8"/>
                </a:solidFill>
                <a:latin typeface="Google Sans"/>
              </a:rPr>
              <a:t>-  Human Engineer Baseline: </a:t>
            </a:r>
            <a:r>
              <a:rPr sz="1000">
                <a:solidFill>
                  <a:srgbClr val="CBD5E1"/>
                </a:solidFill>
                <a:latin typeface="Google Sans"/>
              </a:rPr>
              <a:t>1 Senior Data Engineer ($150,000/yr) spending 40% time fixing broken schema scripts = $60,000/yr in wasted human labor.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38BDF8"/>
                </a:solidFill>
                <a:latin typeface="Google Sans"/>
              </a:rPr>
              <a:t>-  SchemaForge Annual Cost: </a:t>
            </a:r>
            <a:r>
              <a:rPr sz="1000">
                <a:solidFill>
                  <a:srgbClr val="CBD5E1"/>
                </a:solidFill>
                <a:latin typeface="Google Sans"/>
              </a:rPr>
              <a:t>&lt;$100 / year on Google Cloud Run serverless compute.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10B981"/>
                </a:solidFill>
                <a:latin typeface="Google Sans"/>
              </a:rPr>
              <a:t>-  Net Financial Savings: </a:t>
            </a:r>
            <a:r>
              <a:rPr sz="1000">
                <a:solidFill>
                  <a:srgbClr val="CBD5E1"/>
                </a:solidFill>
                <a:latin typeface="Google Sans"/>
              </a:rPr>
              <a:t>$59,900+ / year per engineering squad.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38BDF8"/>
                </a:solidFill>
                <a:latin typeface="Google Sans"/>
              </a:rPr>
              <a:t>-  Velocity Multiplier: </a:t>
            </a:r>
            <a:r>
              <a:rPr sz="1000">
                <a:solidFill>
                  <a:srgbClr val="CBD5E1"/>
                </a:solidFill>
                <a:latin typeface="Google Sans"/>
              </a:rPr>
              <a:t>Reduces pipeline repair lead time from 6 hours to 406.8ms (10,000x acceleration!).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A855F7"/>
                </a:solidFill>
                <a:latin typeface="Google Sans"/>
              </a:rPr>
              <a:t>-  Payback Period: </a:t>
            </a:r>
            <a:r>
              <a:rPr sz="1000">
                <a:solidFill>
                  <a:srgbClr val="CBD5E1"/>
                </a:solidFill>
                <a:latin typeface="Google Sans"/>
              </a:rPr>
              <a:t>Immediate ROI upon deployment of the first autonomous self-healing pipeline.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40080"/>
            <a:ext cx="8943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E293B"/>
                </a:solidFill>
                <a:latin typeface="Google Sans"/>
              </a:defRPr>
            </a:pPr>
            <a:r>
              <a:t>Snapshots of the Prototype: Production Cloud Run Live Verification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Google Sans"/>
              </a:defRPr>
            </a:pPr>
            <a:r>
              <a:t>Live, deployed, fully operational enterprise platform hosted on Google Cloud.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365760" y="1371600"/>
            <a:ext cx="2697480" cy="342900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1100" b="1">
                <a:solidFill>
                  <a:srgbClr val="38BDF8"/>
                </a:solidFill>
                <a:latin typeface="Google Sans"/>
              </a:defRPr>
            </a:pPr>
            <a:r>
              <a:t>View 1: Chaos Self-Healing Drill</a:t>
            </a:r>
          </a:p>
        </p:txBody>
      </p:sp>
      <p:pic>
        <p:nvPicPr>
          <p:cNvPr id="137" name="Picture 136" descr="live_view1_chaos_heal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691640"/>
            <a:ext cx="2514600" cy="1737360"/>
          </a:xfrm>
          <a:prstGeom prst="rect">
            <a:avLst/>
          </a:prstGeom>
        </p:spPr>
      </p:pic>
      <p:sp>
        <p:nvSpPr>
          <p:cNvPr id="138" name="TextBox 137"/>
          <p:cNvSpPr txBox="1"/>
          <p:nvPr/>
        </p:nvSpPr>
        <p:spPr>
          <a:xfrm>
            <a:off x="457200" y="3520440"/>
            <a:ext cx="25146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spcAft>
                <a:spcPts val="300"/>
              </a:spcAft>
            </a:pPr>
            <a:r>
              <a:rPr b="1" sz="850">
                <a:solidFill>
                  <a:srgbClr val="38BDF8"/>
                </a:solidFill>
                <a:latin typeface="Google Sans"/>
              </a:rPr>
              <a:t>-  Chaos Injection: </a:t>
            </a:r>
            <a:r>
              <a:rPr sz="850">
                <a:solidFill>
                  <a:srgbClr val="CBD5E1"/>
                </a:solidFill>
                <a:latin typeface="Google Sans"/>
              </a:rPr>
              <a:t>Adversarial corruption of SAP ERP orders with nested arrays &amp; bad dates.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10B981"/>
                </a:solidFill>
                <a:latin typeface="Google Sans"/>
              </a:rPr>
              <a:t>-  406.8ms Fix: </a:t>
            </a:r>
            <a:r>
              <a:rPr sz="850">
                <a:solidFill>
                  <a:srgbClr val="CBD5E1"/>
                </a:solidFill>
                <a:latin typeface="Google Sans"/>
              </a:rPr>
              <a:t>Synthesized AST fixes schema and loads into BigQuery.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3218688" y="1371600"/>
            <a:ext cx="2697480" cy="342900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1100" b="1">
                <a:solidFill>
                  <a:srgbClr val="FBBC05"/>
                </a:solidFill>
                <a:latin typeface="Google Sans"/>
              </a:defRPr>
            </a:pPr>
            <a:r>
              <a:t>View 2: Observability &amp; DLQ Drawer</a:t>
            </a:r>
          </a:p>
        </p:txBody>
      </p:sp>
      <p:pic>
        <p:nvPicPr>
          <p:cNvPr id="140" name="Picture 139" descr="live_view2_observability_fu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0128" y="1691640"/>
            <a:ext cx="2514600" cy="1737360"/>
          </a:xfrm>
          <a:prstGeom prst="rect">
            <a:avLst/>
          </a:prstGeom>
        </p:spPr>
      </p:pic>
      <p:sp>
        <p:nvSpPr>
          <p:cNvPr id="141" name="TextBox 140"/>
          <p:cNvSpPr txBox="1"/>
          <p:nvPr/>
        </p:nvSpPr>
        <p:spPr>
          <a:xfrm>
            <a:off x="3310128" y="3520440"/>
            <a:ext cx="25146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spcAft>
                <a:spcPts val="300"/>
              </a:spcAft>
            </a:pPr>
            <a:r>
              <a:rPr b="1" sz="850">
                <a:solidFill>
                  <a:srgbClr val="38BDF8"/>
                </a:solidFill>
                <a:latin typeface="Google Sans"/>
              </a:rPr>
              <a:t>-  Real-Time Telemetry: </a:t>
            </a:r>
            <a:r>
              <a:rPr sz="850">
                <a:solidFill>
                  <a:srgbClr val="CBD5E1"/>
                </a:solidFill>
                <a:latin typeface="Google Sans"/>
              </a:rPr>
              <a:t>Throughput sparklines, job latencies, and BigQuery sync counters.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FBBC05"/>
                </a:solidFill>
                <a:latin typeface="Google Sans"/>
              </a:rPr>
              <a:t>-  DLQ Quarantine: </a:t>
            </a:r>
            <a:r>
              <a:rPr sz="850">
                <a:solidFill>
                  <a:srgbClr val="CBD5E1"/>
                </a:solidFill>
                <a:latin typeface="Google Sans"/>
              </a:rPr>
              <a:t>Quarantined malformed payloads with full diagnostic stack traces.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6080760" y="1371600"/>
            <a:ext cx="2697480" cy="342900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1100" b="1">
                <a:solidFill>
                  <a:srgbClr val="A855F7"/>
                </a:solidFill>
                <a:latin typeface="Google Sans"/>
              </a:defRPr>
            </a:pPr>
            <a:r>
              <a:t>View 3: Tri-Modal Copilot Assistant</a:t>
            </a:r>
          </a:p>
        </p:txBody>
      </p:sp>
      <p:pic>
        <p:nvPicPr>
          <p:cNvPr id="143" name="Picture 142" descr="live_copilot_chat_multitur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0" y="1691640"/>
            <a:ext cx="2514600" cy="1737360"/>
          </a:xfrm>
          <a:prstGeom prst="rect">
            <a:avLst/>
          </a:prstGeom>
        </p:spPr>
      </p:pic>
      <p:sp>
        <p:nvSpPr>
          <p:cNvPr id="144" name="TextBox 143"/>
          <p:cNvSpPr txBox="1"/>
          <p:nvPr/>
        </p:nvSpPr>
        <p:spPr>
          <a:xfrm>
            <a:off x="6172200" y="3520440"/>
            <a:ext cx="25146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spcAft>
                <a:spcPts val="300"/>
              </a:spcAft>
            </a:pPr>
            <a:r>
              <a:rPr b="1" sz="850">
                <a:solidFill>
                  <a:srgbClr val="38BDF8"/>
                </a:solidFill>
                <a:latin typeface="Google Sans"/>
              </a:rPr>
              <a:t>-  Conversational AI: </a:t>
            </a:r>
            <a:r>
              <a:rPr sz="850">
                <a:solidFill>
                  <a:srgbClr val="CBD5E1"/>
                </a:solidFill>
                <a:latin typeface="Google Sans"/>
              </a:rPr>
              <a:t>Gemini 1.5 Flash conversational assistant diagnosing pipeline status.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38BDF8"/>
                </a:solidFill>
                <a:latin typeface="Google Sans"/>
              </a:rPr>
              <a:t>-  Instant Remediation: </a:t>
            </a:r>
            <a:r>
              <a:rPr sz="850">
                <a:solidFill>
                  <a:srgbClr val="CBD5E1"/>
                </a:solidFill>
                <a:latin typeface="Google Sans"/>
              </a:rPr>
              <a:t>One-click generation of BigQuery SQL views and corrective scripts.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40080"/>
            <a:ext cx="8943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E293B"/>
                </a:solidFill>
                <a:latin typeface="Google Sans"/>
              </a:defRPr>
            </a:pPr>
            <a:r>
              <a:t>Prototype Performance Report &amp; Empirical 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Google Sans"/>
              </a:defRPr>
            </a:pPr>
            <a:r>
              <a:t>Rigorous empirical validation across 50 adversarial enterprise test cases.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365760" y="1325880"/>
            <a:ext cx="1965960" cy="105156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73152" rIns="73152" bIns="73152"/>
          <a:lstStyle/>
          <a:p>
            <a:pPr algn="ctr">
              <a:defRPr sz="1600" b="1">
                <a:solidFill>
                  <a:srgbClr val="38BDF8"/>
                </a:solidFill>
                <a:latin typeface="Google Sans"/>
              </a:defRPr>
            </a:pPr>
            <a:r>
              <a:t>406.8 ms</a:t>
            </a:r>
          </a:p>
          <a:p>
            <a:pPr algn="ctr">
              <a:defRPr sz="800" b="1">
                <a:solidFill>
                  <a:srgbClr val="FFFFFF"/>
                </a:solidFill>
                <a:latin typeface="Google Sans"/>
              </a:defRPr>
            </a:pPr>
            <a:r>
              <a:t>AVERAGE HEALING SLA</a:t>
            </a:r>
          </a:p>
          <a:p>
            <a:pPr algn="ctr">
              <a:defRPr sz="750">
                <a:solidFill>
                  <a:srgbClr val="94A3B8"/>
                </a:solidFill>
                <a:latin typeface="Google Sans"/>
              </a:defRPr>
            </a:pPr>
            <a:r>
              <a:t>Sub-second recovery latency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2468879" y="1325880"/>
            <a:ext cx="1965960" cy="105156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73152" rIns="73152" bIns="73152"/>
          <a:lstStyle/>
          <a:p>
            <a:pPr algn="ctr">
              <a:defRPr sz="1600" b="1">
                <a:solidFill>
                  <a:srgbClr val="10B981"/>
                </a:solidFill>
                <a:latin typeface="Google Sans"/>
              </a:defRPr>
            </a:pPr>
            <a:r>
              <a:t>100%</a:t>
            </a:r>
          </a:p>
          <a:p>
            <a:pPr algn="ctr">
              <a:defRPr sz="800" b="1">
                <a:solidFill>
                  <a:srgbClr val="FFFFFF"/>
                </a:solidFill>
                <a:latin typeface="Google Sans"/>
              </a:defRPr>
            </a:pPr>
            <a:r>
              <a:t>RECOVERY SUCCESS RATE</a:t>
            </a:r>
          </a:p>
          <a:p>
            <a:pPr algn="ctr">
              <a:defRPr sz="750">
                <a:solidFill>
                  <a:srgbClr val="94A3B8"/>
                </a:solidFill>
                <a:latin typeface="Google Sans"/>
              </a:defRPr>
            </a:pPr>
            <a:r>
              <a:t>50/50 Chaos scenarios resolved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4572000" y="1325880"/>
            <a:ext cx="1965960" cy="105156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73152" rIns="73152" bIns="73152"/>
          <a:lstStyle/>
          <a:p>
            <a:pPr algn="ctr">
              <a:defRPr sz="1600" b="1">
                <a:solidFill>
                  <a:srgbClr val="FBBC05"/>
                </a:solidFill>
                <a:latin typeface="Google Sans"/>
              </a:defRPr>
            </a:pPr>
            <a:r>
              <a:t>0</a:t>
            </a:r>
          </a:p>
          <a:p>
            <a:pPr algn="ctr">
              <a:defRPr sz="800" b="1">
                <a:solidFill>
                  <a:srgbClr val="FFFFFF"/>
                </a:solidFill>
                <a:latin typeface="Google Sans"/>
              </a:defRPr>
            </a:pPr>
            <a:r>
              <a:t>HALLUCINATIONS</a:t>
            </a:r>
          </a:p>
          <a:p>
            <a:pPr algn="ctr">
              <a:defRPr sz="750">
                <a:solidFill>
                  <a:srgbClr val="94A3B8"/>
                </a:solidFill>
                <a:latin typeface="Google Sans"/>
              </a:defRPr>
            </a:pPr>
            <a:r>
              <a:t>Formal math &amp; AST code verification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6675120" y="1325880"/>
            <a:ext cx="1965960" cy="105156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73152" rIns="73152" bIns="73152"/>
          <a:lstStyle/>
          <a:p>
            <a:pPr algn="ctr">
              <a:defRPr sz="1600" b="1">
                <a:solidFill>
                  <a:srgbClr val="A855F7"/>
                </a:solidFill>
                <a:latin typeface="Google Sans"/>
              </a:defRPr>
            </a:pPr>
            <a:r>
              <a:t>$0.00072</a:t>
            </a:r>
          </a:p>
          <a:p>
            <a:pPr algn="ctr">
              <a:defRPr sz="800" b="1">
                <a:solidFill>
                  <a:srgbClr val="FFFFFF"/>
                </a:solidFill>
                <a:latin typeface="Google Sans"/>
              </a:defRPr>
            </a:pPr>
            <a:r>
              <a:t>UNIT INGESTION COST</a:t>
            </a:r>
          </a:p>
          <a:p>
            <a:pPr algn="ctr">
              <a:defRPr sz="750">
                <a:solidFill>
                  <a:srgbClr val="94A3B8"/>
                </a:solidFill>
                <a:latin typeface="Google Sans"/>
              </a:defRPr>
            </a:pPr>
            <a:r>
              <a:t>99.4% OpEx savings vs human triage</a:t>
            </a:r>
          </a:p>
        </p:txBody>
      </p:sp>
      <p:graphicFrame>
        <p:nvGraphicFramePr>
          <p:cNvPr id="148" name="Table 147"/>
          <p:cNvGraphicFramePr>
            <a:graphicFrameLocks noGrp="1"/>
          </p:cNvGraphicFramePr>
          <p:nvPr/>
        </p:nvGraphicFramePr>
        <p:xfrm>
          <a:off x="365760" y="2514600"/>
          <a:ext cx="8412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03120"/>
                <a:gridCol w="2103120"/>
                <a:gridCol w="2194560"/>
              </a:tblGrid>
              <a:tr h="438912"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Google Sans"/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18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Google Sans"/>
                        </a:defRPr>
                      </a:pPr>
                      <a:r>
                        <a:t>Traditional ETL (Airbyte/Fivetran)</a:t>
                      </a:r>
                    </a:p>
                  </a:txBody>
                  <a:tcPr>
                    <a:solidFill>
                      <a:srgbClr val="18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Google Sans"/>
                        </a:defRPr>
                      </a:pPr>
                      <a:r>
                        <a:t>Naive LLM Agents (Prompting)</a:t>
                      </a:r>
                    </a:p>
                  </a:txBody>
                  <a:tcPr>
                    <a:solidFill>
                      <a:srgbClr val="18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Google Sans"/>
                        </a:defRPr>
                      </a:pPr>
                      <a:r>
                        <a:t>SchemaForge Data-OS (Ours)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CBD5E1"/>
                          </a:solidFill>
                          <a:latin typeface="Google Sans"/>
                        </a:defRPr>
                      </a:pPr>
                      <a:r>
                        <a:t>Schema Drift Handling</a:t>
                      </a:r>
                    </a:p>
                  </a:txBody>
                  <a:tcPr>
                    <a:solidFill>
                      <a:srgbClr val="18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CBD5E1"/>
                          </a:solidFill>
                          <a:latin typeface="Google Sans"/>
                        </a:defRPr>
                      </a:pPr>
                      <a:r>
                        <a:t>Hard-fails; requires manual ticket</a:t>
                      </a:r>
                    </a:p>
                  </a:txBody>
                  <a:tcPr>
                    <a:solidFill>
                      <a:srgbClr val="18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CBD5E1"/>
                          </a:solidFill>
                          <a:latin typeface="Google Sans"/>
                        </a:defRPr>
                      </a:pPr>
                      <a:r>
                        <a:t>Fragile; outputs malformed JSON</a:t>
                      </a:r>
                    </a:p>
                  </a:txBody>
                  <a:tcPr>
                    <a:solidFill>
                      <a:srgbClr val="18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38BDF8"/>
                          </a:solidFill>
                          <a:latin typeface="Google Sans"/>
                        </a:defRPr>
                      </a:pPr>
                      <a:r>
                        <a:t>Autonomous Self-Healing (406.8ms)</a:t>
                      </a:r>
                    </a:p>
                  </a:txBody>
                  <a:tcPr>
                    <a:solidFill>
                      <a:srgbClr val="142646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CBD5E1"/>
                          </a:solidFill>
                          <a:latin typeface="Google Sans"/>
                        </a:defRPr>
                      </a:pPr>
                      <a:r>
                        <a:t>Financial Accuracy</a:t>
                      </a:r>
                    </a:p>
                  </a:txBody>
                  <a:tcPr>
                    <a:solidFill>
                      <a:srgbClr val="121B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CBD5E1"/>
                          </a:solidFill>
                          <a:latin typeface="Google Sans"/>
                        </a:defRPr>
                      </a:pPr>
                      <a:r>
                        <a:t>N/A (Crashes before load)</a:t>
                      </a:r>
                    </a:p>
                  </a:txBody>
                  <a:tcPr>
                    <a:solidFill>
                      <a:srgbClr val="121B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CBD5E1"/>
                          </a:solidFill>
                          <a:latin typeface="Google Sans"/>
                        </a:defRPr>
                      </a:pPr>
                      <a:r>
                        <a:t>~82% (Hallucinates values/sums)</a:t>
                      </a:r>
                    </a:p>
                  </a:txBody>
                  <a:tcPr>
                    <a:solidFill>
                      <a:srgbClr val="121B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38BDF8"/>
                          </a:solidFill>
                          <a:latin typeface="Google Sans"/>
                        </a:defRPr>
                      </a:pPr>
                      <a:r>
                        <a:t>100% Invariant (sum Gross == sum Billed)</a:t>
                      </a:r>
                    </a:p>
                  </a:txBody>
                  <a:tcPr>
                    <a:solidFill>
                      <a:srgbClr val="142646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CBD5E1"/>
                          </a:solidFill>
                          <a:latin typeface="Google Sans"/>
                        </a:defRPr>
                      </a:pPr>
                      <a:r>
                        <a:t>Execution Security</a:t>
                      </a:r>
                    </a:p>
                  </a:txBody>
                  <a:tcPr>
                    <a:solidFill>
                      <a:srgbClr val="18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CBD5E1"/>
                          </a:solidFill>
                          <a:latin typeface="Google Sans"/>
                        </a:defRPr>
                      </a:pPr>
                      <a:r>
                        <a:t>Static rule engine</a:t>
                      </a:r>
                    </a:p>
                  </a:txBody>
                  <a:tcPr>
                    <a:solidFill>
                      <a:srgbClr val="18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CBD5E1"/>
                          </a:solidFill>
                          <a:latin typeface="Google Sans"/>
                        </a:defRPr>
                      </a:pPr>
                      <a:r>
                        <a:t>Prompt injection &amp; egress risk</a:t>
                      </a:r>
                    </a:p>
                  </a:txBody>
                  <a:tcPr>
                    <a:solidFill>
                      <a:srgbClr val="18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38BDF8"/>
                          </a:solidFill>
                          <a:latin typeface="Google Sans"/>
                        </a:defRPr>
                      </a:pPr>
                      <a:r>
                        <a:t>Zero-Trust gVisor Sandbox Container</a:t>
                      </a:r>
                    </a:p>
                  </a:txBody>
                  <a:tcPr>
                    <a:solidFill>
                      <a:srgbClr val="142646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CBD5E1"/>
                          </a:solidFill>
                          <a:latin typeface="Google Sans"/>
                        </a:defRPr>
                      </a:pPr>
                      <a:r>
                        <a:t>Unit Cost per File</a:t>
                      </a:r>
                    </a:p>
                  </a:txBody>
                  <a:tcPr>
                    <a:solidFill>
                      <a:srgbClr val="121B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CBD5E1"/>
                          </a:solidFill>
                          <a:latin typeface="Google Sans"/>
                        </a:defRPr>
                      </a:pPr>
                      <a:r>
                        <a:t>$50 - $150 (Human Labor Triage)</a:t>
                      </a:r>
                    </a:p>
                  </a:txBody>
                  <a:tcPr>
                    <a:solidFill>
                      <a:srgbClr val="121B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CBD5E1"/>
                          </a:solidFill>
                          <a:latin typeface="Google Sans"/>
                        </a:defRPr>
                      </a:pPr>
                      <a:r>
                        <a:t>$0.05 - $0.15 (Raw LLM Tokens)</a:t>
                      </a:r>
                    </a:p>
                  </a:txBody>
                  <a:tcPr>
                    <a:solidFill>
                      <a:srgbClr val="121B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10B981"/>
                          </a:solidFill>
                          <a:latin typeface="Google Sans"/>
                        </a:defRPr>
                      </a:pPr>
                      <a:r>
                        <a:t>$0.00072 (Serverless Cloud Run)</a:t>
                      </a:r>
                    </a:p>
                  </a:txBody>
                  <a:tcPr>
                    <a:solidFill>
                      <a:srgbClr val="14264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40080"/>
            <a:ext cx="8943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E293B"/>
                </a:solidFill>
                <a:latin typeface="Google Sans"/>
              </a:defRPr>
            </a:pPr>
            <a:r>
              <a:t>Additional Details &amp; Future Scope: Enterprise ERP Roadmap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Google Sans"/>
              </a:defRPr>
            </a:pPr>
            <a:r>
              <a:t>Scaling from autonomous file ingestion to the autonomous enterprise data fabric.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365760" y="1371600"/>
            <a:ext cx="2697480" cy="342900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/>
          <a:lstStyle/>
          <a:p>
            <a:pPr algn="ctr">
              <a:defRPr sz="1000" b="1">
                <a:solidFill>
                  <a:srgbClr val="4285F4"/>
                </a:solidFill>
                <a:latin typeface="Google Sans"/>
              </a:defRPr>
            </a:pPr>
            <a:r>
              <a:t>PHASE 1 (Q2 2026)</a:t>
            </a:r>
          </a:p>
          <a:p>
            <a:pPr>
              <a:spcAft>
                <a:spcPts val="600"/>
              </a:spcAft>
              <a:defRPr sz="1100" b="1">
                <a:solidFill>
                  <a:srgbClr val="FFFFFF"/>
                </a:solidFill>
                <a:latin typeface="Google Sans"/>
              </a:defRPr>
            </a:pPr>
            <a:r>
              <a:t>Pre-Built Enterprise ERP Connectors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4285F4"/>
                </a:solidFill>
                <a:latin typeface="Google Sans"/>
              </a:rPr>
              <a:t>-  Native SAP S/4HANA: </a:t>
            </a:r>
            <a:r>
              <a:rPr sz="900">
                <a:solidFill>
                  <a:srgbClr val="CBD5E1"/>
                </a:solidFill>
                <a:latin typeface="Google Sans"/>
              </a:rPr>
              <a:t>Direct bidirectional CDC connector for SAP tables (VBAK, VBAP, BSEG).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4285F4"/>
                </a:solidFill>
                <a:latin typeface="Google Sans"/>
              </a:rPr>
              <a:t>-  Salesforce Data Cloud: </a:t>
            </a:r>
            <a:r>
              <a:rPr sz="900">
                <a:solidFill>
                  <a:srgbClr val="CBD5E1"/>
                </a:solidFill>
                <a:latin typeface="Google Sans"/>
              </a:rPr>
              <a:t>Zero-config ingestion of polymorphic CRM objects and custom fields.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4285F4"/>
                </a:solidFill>
                <a:latin typeface="Google Sans"/>
              </a:rPr>
              <a:t>-  Workday Financials: </a:t>
            </a:r>
            <a:r>
              <a:rPr sz="900">
                <a:solidFill>
                  <a:srgbClr val="CBD5E1"/>
                </a:solidFill>
                <a:latin typeface="Google Sans"/>
              </a:rPr>
              <a:t>Autonomous ingestion of complex hierarchical ledger structures.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4285F4"/>
                </a:solidFill>
                <a:latin typeface="Google Sans"/>
              </a:rPr>
              <a:t>-  Streaming Kafka Buffer: </a:t>
            </a:r>
            <a:r>
              <a:rPr sz="900">
                <a:solidFill>
                  <a:srgbClr val="CBD5E1"/>
                </a:solidFill>
                <a:latin typeface="Google Sans"/>
              </a:rPr>
              <a:t>Sub-10ms event ingestion from enterprise Kafka and Confluent clusters.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3218688" y="1371600"/>
            <a:ext cx="2697480" cy="342900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/>
          <a:lstStyle/>
          <a:p>
            <a:pPr algn="ctr">
              <a:defRPr sz="1000" b="1">
                <a:solidFill>
                  <a:srgbClr val="A855F7"/>
                </a:solidFill>
                <a:latin typeface="Google Sans"/>
              </a:defRPr>
            </a:pPr>
            <a:r>
              <a:t>PHASE 2 (Q3 2026)</a:t>
            </a:r>
          </a:p>
          <a:p>
            <a:pPr>
              <a:spcAft>
                <a:spcPts val="600"/>
              </a:spcAft>
              <a:defRPr sz="1100" b="1">
                <a:solidFill>
                  <a:srgbClr val="FFFFFF"/>
                </a:solidFill>
                <a:latin typeface="Google Sans"/>
              </a:defRPr>
            </a:pPr>
            <a:r>
              <a:t>Multimodal &amp; Unstructured Ingestion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A855F7"/>
                </a:solidFill>
                <a:latin typeface="Google Sans"/>
              </a:rPr>
              <a:t>-  Gemini Vision Parsing: </a:t>
            </a:r>
            <a:r>
              <a:rPr sz="900">
                <a:solidFill>
                  <a:srgbClr val="CBD5E1"/>
                </a:solidFill>
                <a:latin typeface="Google Sans"/>
              </a:rPr>
              <a:t>Directly ingests scanned PDF invoices, BOLs, and handwritten POs.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A855F7"/>
                </a:solidFill>
                <a:latin typeface="Google Sans"/>
              </a:rPr>
              <a:t>-  Document Invariant Induction: </a:t>
            </a:r>
            <a:r>
              <a:rPr sz="900">
                <a:solidFill>
                  <a:srgbClr val="CBD5E1"/>
                </a:solidFill>
                <a:latin typeface="Google Sans"/>
              </a:rPr>
              <a:t>Extracts tables and matches bounding-box coordinates to BigQuery columns.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A855F7"/>
                </a:solidFill>
                <a:latin typeface="Google Sans"/>
              </a:rPr>
              <a:t>-  Multi-Language Support: </a:t>
            </a:r>
            <a:r>
              <a:rPr sz="900">
                <a:solidFill>
                  <a:srgbClr val="CBD5E1"/>
                </a:solidFill>
                <a:latin typeface="Google Sans"/>
              </a:rPr>
              <a:t>Translates and normalizes multilingual global trade documents.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A855F7"/>
                </a:solidFill>
                <a:latin typeface="Google Sans"/>
              </a:rPr>
              <a:t>-  Signature &amp; Seal Verification: </a:t>
            </a:r>
            <a:r>
              <a:rPr sz="900">
                <a:solidFill>
                  <a:srgbClr val="CBD5E1"/>
                </a:solidFill>
                <a:latin typeface="Google Sans"/>
              </a:rPr>
              <a:t>Validates compliance stamps against enterprise document standards.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6071616" y="1371600"/>
            <a:ext cx="2697480" cy="342900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/>
          <a:lstStyle/>
          <a:p>
            <a:pPr algn="ctr">
              <a:defRPr sz="1000" b="1">
                <a:solidFill>
                  <a:srgbClr val="10B981"/>
                </a:solidFill>
                <a:latin typeface="Google Sans"/>
              </a:defRPr>
            </a:pPr>
            <a:r>
              <a:t>PHASE 3 (Q4 2026)</a:t>
            </a:r>
          </a:p>
          <a:p>
            <a:pPr>
              <a:spcAft>
                <a:spcPts val="600"/>
              </a:spcAft>
              <a:defRPr sz="1100" b="1">
                <a:solidFill>
                  <a:srgbClr val="FFFFFF"/>
                </a:solidFill>
                <a:latin typeface="Google Sans"/>
              </a:defRPr>
            </a:pPr>
            <a:r>
              <a:t>Active-Active Multi-Cloud Governance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10B981"/>
                </a:solidFill>
                <a:latin typeface="Google Sans"/>
              </a:rPr>
              <a:t>-  Cross-Region BigQuery: </a:t>
            </a:r>
            <a:r>
              <a:rPr sz="900">
                <a:solidFill>
                  <a:srgbClr val="CBD5E1"/>
                </a:solidFill>
                <a:latin typeface="Google Sans"/>
              </a:rPr>
              <a:t>Active-active lakehouse synchronization across US, EU, and APAC zones.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10B981"/>
                </a:solidFill>
                <a:latin typeface="Google Sans"/>
              </a:rPr>
              <a:t>-  Automated Lineage: </a:t>
            </a:r>
            <a:r>
              <a:rPr sz="900">
                <a:solidFill>
                  <a:srgbClr val="CBD5E1"/>
                </a:solidFill>
                <a:latin typeface="Google Sans"/>
              </a:rPr>
              <a:t>Full data mesh provenance tracking integrated with Google Dataplex.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10B981"/>
                </a:solidFill>
                <a:latin typeface="Google Sans"/>
              </a:rPr>
              <a:t>-  Zero-Day Anomaly Radar: </a:t>
            </a:r>
            <a:r>
              <a:rPr sz="900">
                <a:solidFill>
                  <a:srgbClr val="CBD5E1"/>
                </a:solidFill>
                <a:latin typeface="Google Sans"/>
              </a:rPr>
              <a:t>Unsupervised drift forecasting predicting schema changes before failure.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10B981"/>
                </a:solidFill>
                <a:latin typeface="Google Sans"/>
              </a:rPr>
              <a:t>-  Autonomous Governance: </a:t>
            </a:r>
            <a:r>
              <a:rPr sz="900">
                <a:solidFill>
                  <a:srgbClr val="CBD5E1"/>
                </a:solidFill>
                <a:latin typeface="Google Sans"/>
              </a:rPr>
              <a:t>Automated masking of PII/PHI under GDPR, HIPAA, and SOC2 policies.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40080"/>
            <a:ext cx="8943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E293B"/>
                </a:solidFill>
                <a:latin typeface="Google Sans"/>
              </a:defRPr>
            </a:pPr>
            <a:r>
              <a:t>Project Deliverables &amp; Verification Links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Google Sans"/>
              </a:defRPr>
            </a:pPr>
            <a:r>
              <a:t>Explore the complete source repository, watch the HD demonstration, and test live on Cloud Run.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365760" y="1371600"/>
            <a:ext cx="2697480" cy="342900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/>
          <a:lstStyle/>
          <a:p>
            <a:pPr algn="ctr">
              <a:defRPr sz="1200" b="1">
                <a:solidFill>
                  <a:srgbClr val="38BDF8"/>
                </a:solidFill>
                <a:latin typeface="Google Sans"/>
              </a:defRPr>
            </a:pPr>
            <a:r>
              <a:t>1. Public GitHub Repository</a:t>
            </a:r>
          </a:p>
          <a:p>
            <a:pPr>
              <a:spcAft>
                <a:spcPts val="600"/>
              </a:spcAft>
              <a:defRPr sz="950" b="1">
                <a:solidFill>
                  <a:srgbClr val="4285F4"/>
                </a:solidFill>
                <a:latin typeface="Google Sans"/>
              </a:defRPr>
            </a:pPr>
            <a:r>
              <a:t>github.com/5h1v4n5h/schemaforge-data-os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38BDF8"/>
                </a:solidFill>
                <a:latin typeface="Google Sans"/>
              </a:rPr>
              <a:t>-  Zero Committed Creds: </a:t>
            </a:r>
            <a:r>
              <a:rPr sz="1000">
                <a:solidFill>
                  <a:srgbClr val="CBD5E1"/>
                </a:solidFill>
                <a:latin typeface="Google Sans"/>
              </a:rPr>
              <a:t>Strictly sanitized repository with zero hardcoded API keys or secrets.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38BDF8"/>
                </a:solidFill>
                <a:latin typeface="Google Sans"/>
              </a:rPr>
              <a:t>-  Clean Architecture: </a:t>
            </a:r>
            <a:r>
              <a:rPr sz="1000">
                <a:solidFill>
                  <a:srgbClr val="CBD5E1"/>
                </a:solidFill>
                <a:latin typeface="Google Sans"/>
              </a:rPr>
              <a:t>Modular layers: domain, application, infrastructure, and presentation.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38BDF8"/>
                </a:solidFill>
                <a:latin typeface="Google Sans"/>
              </a:rPr>
              <a:t>-  Comprehensive Tests: </a:t>
            </a:r>
            <a:r>
              <a:rPr sz="1000">
                <a:solidFill>
                  <a:srgbClr val="CBD5E1"/>
                </a:solidFill>
                <a:latin typeface="Google Sans"/>
              </a:rPr>
              <a:t>Unit, integration, and E2E chaos tests included in automated CI suite.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38BDF8"/>
                </a:solidFill>
                <a:latin typeface="Google Sans"/>
              </a:rPr>
              <a:t>-  Deployment Ready: </a:t>
            </a:r>
            <a:r>
              <a:rPr sz="1000">
                <a:solidFill>
                  <a:srgbClr val="CBD5E1"/>
                </a:solidFill>
                <a:latin typeface="Google Sans"/>
              </a:rPr>
              <a:t>One-command Dockerfile and Cloud Build YAML for Google Cloud Run.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3218688" y="1371600"/>
            <a:ext cx="2697480" cy="342900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/>
          <a:lstStyle/>
          <a:p>
            <a:pPr algn="ctr">
              <a:defRPr sz="1200" b="1">
                <a:solidFill>
                  <a:srgbClr val="EA4335"/>
                </a:solidFill>
                <a:latin typeface="Google Sans"/>
              </a:defRPr>
            </a:pPr>
            <a:r>
              <a:t>2. Demonstration Pitch Video</a:t>
            </a:r>
          </a:p>
          <a:p>
            <a:pPr>
              <a:spcAft>
                <a:spcPts val="600"/>
              </a:spcAft>
              <a:defRPr sz="950" b="1">
                <a:solidFill>
                  <a:srgbClr val="FBBC05"/>
                </a:solidFill>
                <a:latin typeface="Google Sans"/>
              </a:defRPr>
            </a:pPr>
            <a:r>
              <a:t>10:02 Full HD Broadcast Walkthrough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38BDF8"/>
                </a:solidFill>
                <a:latin typeface="Google Sans"/>
              </a:rPr>
              <a:t>-  Problem Breakdown: </a:t>
            </a:r>
            <a:r>
              <a:rPr sz="1000">
                <a:solidFill>
                  <a:srgbClr val="CBD5E1"/>
                </a:solidFill>
                <a:latin typeface="Google Sans"/>
              </a:rPr>
              <a:t>In-depth explanation of the $100B enterprise data downtime bottleneck.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38BDF8"/>
                </a:solidFill>
                <a:latin typeface="Google Sans"/>
              </a:rPr>
              <a:t>-  ARC-AGI Concept: </a:t>
            </a:r>
            <a:r>
              <a:rPr sz="1000">
                <a:solidFill>
                  <a:srgbClr val="CBD5E1"/>
                </a:solidFill>
                <a:latin typeface="Google Sans"/>
              </a:rPr>
              <a:t>Clear visual explanation of few-shot program induction vs LLM prompting.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38BDF8"/>
                </a:solidFill>
                <a:latin typeface="Google Sans"/>
              </a:rPr>
              <a:t>-  Live Solution Tour: </a:t>
            </a:r>
            <a:r>
              <a:rPr sz="1000">
                <a:solidFill>
                  <a:srgbClr val="CBD5E1"/>
                </a:solidFill>
                <a:latin typeface="Google Sans"/>
              </a:rPr>
              <a:t>Recorded end-to-end walkthrough of the live Cloud Run production UI.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38BDF8"/>
                </a:solidFill>
                <a:latin typeface="Google Sans"/>
              </a:rPr>
              <a:t>-  Calm Presentation: </a:t>
            </a:r>
            <a:r>
              <a:rPr sz="1000">
                <a:solidFill>
                  <a:srgbClr val="CBD5E1"/>
                </a:solidFill>
                <a:latin typeface="Google Sans"/>
              </a:rPr>
              <a:t>Articulate, measured pacing (~103 WPM) matching authentic presentation style.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6080760" y="1371600"/>
            <a:ext cx="2697480" cy="342900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/>
          <a:lstStyle/>
          <a:p>
            <a:pPr algn="ctr">
              <a:defRPr sz="1200" b="1">
                <a:solidFill>
                  <a:srgbClr val="10B981"/>
                </a:solidFill>
                <a:latin typeface="Google Sans"/>
              </a:defRPr>
            </a:pPr>
            <a:r>
              <a:t>3. Live Production Solution</a:t>
            </a:r>
          </a:p>
          <a:p>
            <a:pPr>
              <a:spcAft>
                <a:spcPts val="600"/>
              </a:spcAft>
              <a:defRPr sz="850" b="1">
                <a:solidFill>
                  <a:srgbClr val="38BDF8"/>
                </a:solidFill>
                <a:latin typeface="Google Sans"/>
              </a:defRPr>
            </a:pPr>
            <a:r>
              <a:t>schemaforge-app-605335322761.us-central1.run.app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38BDF8"/>
                </a:solidFill>
                <a:latin typeface="Google Sans"/>
              </a:rPr>
              <a:t>-  Live Cloud Run: </a:t>
            </a:r>
            <a:r>
              <a:rPr sz="1000">
                <a:solidFill>
                  <a:srgbClr val="CBD5E1"/>
                </a:solidFill>
                <a:latin typeface="Google Sans"/>
              </a:rPr>
              <a:t>Deployed in us-central1 with 100% SLA and public accessibility.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38BDF8"/>
                </a:solidFill>
                <a:latin typeface="Google Sans"/>
              </a:rPr>
              <a:t>-  Interactive Drills: </a:t>
            </a:r>
            <a:r>
              <a:rPr sz="1000">
                <a:solidFill>
                  <a:srgbClr val="CBD5E1"/>
                </a:solidFill>
                <a:latin typeface="Google Sans"/>
              </a:rPr>
              <a:t>Judges can trigger real-time chaos injection and watch 406.8ms recovery.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38BDF8"/>
                </a:solidFill>
                <a:latin typeface="Google Sans"/>
              </a:rPr>
              <a:t>-  Live Copilot: </a:t>
            </a:r>
            <a:r>
              <a:rPr sz="1000">
                <a:solidFill>
                  <a:srgbClr val="CBD5E1"/>
                </a:solidFill>
                <a:latin typeface="Google Sans"/>
              </a:rPr>
              <a:t>Query the Gemini 1.5 Flash assistant directly in your browser.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38BDF8"/>
                </a:solidFill>
                <a:latin typeface="Google Sans"/>
              </a:rPr>
              <a:t>-  Production Verified: </a:t>
            </a:r>
            <a:r>
              <a:rPr sz="1000">
                <a:solidFill>
                  <a:srgbClr val="CBD5E1"/>
                </a:solidFill>
                <a:latin typeface="Google Sans"/>
              </a:rPr>
              <a:t>Validated across BigQuery lakehouse streaming and Pub/Sub DLQ buffers.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265176" y="640080"/>
            <a:ext cx="8686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Google Sans"/>
              </a:defRPr>
            </a:pPr>
            <a:r>
              <a:t>Track Justification: Future of Work &amp; Enterprise Productivity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Google Sans"/>
              </a:defRPr>
            </a:pPr>
            <a:r>
              <a:t>Why solving data ingestion at the boundary is the foundational prerequisite for enterprise AI.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365760" y="1371600"/>
            <a:ext cx="2697480" cy="342900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/>
          <a:lstStyle/>
          <a:p>
            <a:pPr algn="ctr">
              <a:defRPr sz="1200" b="1">
                <a:solidFill>
                  <a:srgbClr val="38BDF8"/>
                </a:solidFill>
                <a:latin typeface="Google Sans"/>
              </a:defRPr>
            </a:pPr>
            <a:r>
              <a:t>Eliminating the $100B Human Tax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38BDF8"/>
                </a:solidFill>
                <a:latin typeface="Google Sans"/>
              </a:rPr>
              <a:t>-  The Data Boundary Tax: </a:t>
            </a:r>
            <a:r>
              <a:rPr sz="1000">
                <a:solidFill>
                  <a:srgbClr val="CBD5E1"/>
                </a:solidFill>
                <a:latin typeface="Google Sans"/>
              </a:rPr>
              <a:t>Knowledge worker productivity is capped by upstream data failures. When ERP pipelines break, executive dashboards freeze.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38BDF8"/>
                </a:solidFill>
                <a:latin typeface="Google Sans"/>
              </a:rPr>
              <a:t>-  Eradicating Toil: </a:t>
            </a:r>
            <a:r>
              <a:rPr sz="1000">
                <a:solidFill>
                  <a:srgbClr val="CBD5E1"/>
                </a:solidFill>
                <a:latin typeface="Google Sans"/>
              </a:rPr>
              <a:t>Data engineers spend half their career writing repetitive schema transformation boilerplate.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38BDF8"/>
                </a:solidFill>
                <a:latin typeface="Google Sans"/>
              </a:rPr>
              <a:t>-  Zero-Touch Autonomy: </a:t>
            </a:r>
            <a:r>
              <a:rPr sz="1000">
                <a:solidFill>
                  <a:srgbClr val="CBD5E1"/>
                </a:solidFill>
                <a:latin typeface="Google Sans"/>
              </a:rPr>
              <a:t>SchemaForge converts a 6-hour manual crisis into a 406.8-millisecond non-event.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3218688" y="1371600"/>
            <a:ext cx="2697480" cy="342900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/>
          <a:lstStyle/>
          <a:p>
            <a:pPr algn="ctr">
              <a:defRPr sz="1200" b="1">
                <a:solidFill>
                  <a:srgbClr val="FBBC05"/>
                </a:solidFill>
                <a:latin typeface="Google Sans"/>
              </a:defRPr>
            </a:pPr>
            <a:r>
              <a:t>10x Developer &amp; Analyst Velocity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38BDF8"/>
                </a:solidFill>
                <a:latin typeface="Google Sans"/>
              </a:rPr>
              <a:t>-  From Fixers to Builders: </a:t>
            </a:r>
            <a:r>
              <a:rPr sz="1000">
                <a:solidFill>
                  <a:srgbClr val="CBD5E1"/>
                </a:solidFill>
                <a:latin typeface="Google Sans"/>
              </a:rPr>
              <a:t>Frees enterprise engineers to focus 100% on high-impact AI, predictive modeling, and strategic products.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38BDF8"/>
                </a:solidFill>
                <a:latin typeface="Google Sans"/>
              </a:rPr>
              <a:t>-  Real-Time Decision Making: </a:t>
            </a:r>
            <a:r>
              <a:rPr sz="1000">
                <a:solidFill>
                  <a:srgbClr val="CBD5E1"/>
                </a:solidFill>
                <a:latin typeface="Google Sans"/>
              </a:rPr>
              <a:t>Eliminates multi-day reporting delays; business users query live BigQuery tables without data lag.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38BDF8"/>
                </a:solidFill>
                <a:latin typeface="Google Sans"/>
              </a:rPr>
              <a:t>-  Self-Documenting Schemas: </a:t>
            </a:r>
            <a:r>
              <a:rPr sz="1000">
                <a:solidFill>
                  <a:srgbClr val="CBD5E1"/>
                </a:solidFill>
                <a:latin typeface="Google Sans"/>
              </a:rPr>
              <a:t>Automatically produces versioned schemas, lineage maps, and mathematical audit proofs.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6080760" y="1371600"/>
            <a:ext cx="2697480" cy="342900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/>
          <a:lstStyle/>
          <a:p>
            <a:pPr algn="ctr">
              <a:defRPr sz="1200" b="1">
                <a:solidFill>
                  <a:srgbClr val="10B981"/>
                </a:solidFill>
                <a:latin typeface="Google Sans"/>
              </a:defRPr>
            </a:pPr>
            <a:r>
              <a:t>The Substrate for Enterprise AI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38BDF8"/>
                </a:solidFill>
                <a:latin typeface="Google Sans"/>
              </a:rPr>
              <a:t>-  Garbage In, Garbage Out: </a:t>
            </a:r>
            <a:r>
              <a:rPr sz="1000">
                <a:solidFill>
                  <a:srgbClr val="CBD5E1"/>
                </a:solidFill>
                <a:latin typeface="Google Sans"/>
              </a:rPr>
              <a:t>Enterprise GenAI and autonomous agents are only as reliable as the data lakehouse feeding them.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38BDF8"/>
                </a:solidFill>
                <a:latin typeface="Google Sans"/>
              </a:rPr>
              <a:t>-  Guaranteed Mathematical Truth: </a:t>
            </a:r>
            <a:r>
              <a:rPr sz="1000">
                <a:solidFill>
                  <a:srgbClr val="CBD5E1"/>
                </a:solidFill>
                <a:latin typeface="Google Sans"/>
              </a:rPr>
              <a:t>By enforcing formal Pandera contracts and balance conservation, SchemaForge guarantees pristine lakehouse data.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38BDF8"/>
                </a:solidFill>
                <a:latin typeface="Google Sans"/>
              </a:rPr>
              <a:t>-  Unlocking the Future of Work: </a:t>
            </a:r>
            <a:r>
              <a:rPr sz="1000">
                <a:solidFill>
                  <a:srgbClr val="CBD5E1"/>
                </a:solidFill>
                <a:latin typeface="Google Sans"/>
              </a:rPr>
              <a:t>Serves as the indispensable operating system beneath every downstream enterprise agent.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Rounded Rectangle 172"/>
          <p:cNvSpPr/>
          <p:nvPr/>
        </p:nvSpPr>
        <p:spPr>
          <a:xfrm>
            <a:off x="1371600" y="3840480"/>
            <a:ext cx="6400800" cy="91440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200" b="1">
                <a:solidFill>
                  <a:srgbClr val="38BDF8"/>
                </a:solidFill>
                <a:latin typeface="Google Sans"/>
              </a:defRPr>
            </a:pPr>
            <a:r>
              <a:t>Apex Agents | Team Leader: Shivansh Sharma | Google AI Builder Cup 2026</a:t>
            </a:r>
          </a:p>
          <a:p>
            <a:pPr algn="ctr">
              <a:defRPr sz="1000">
                <a:solidFill>
                  <a:srgbClr val="CBD5E1"/>
                </a:solidFill>
                <a:latin typeface="Google Sans"/>
              </a:defRPr>
            </a:pPr>
            <a:r>
              <a:t>Live App: schemaforge-app-605335322761.us-central1.run.app  |  GitHub: 5h1v4n5h/schemaforge-data-os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